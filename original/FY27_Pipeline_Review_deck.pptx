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64" r:id="rId5"/>
    <p:sldId id="265" r:id="rId6"/>
    <p:sldId id="267" r:id="rId7"/>
    <p:sldId id="261" r:id="rId8"/>
    <p:sldId id="259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183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128"/>
    <p:restoredTop sz="94678"/>
  </p:normalViewPr>
  <p:slideViewPr>
    <p:cSldViewPr snapToGrid="0">
      <p:cViewPr varScale="1">
        <p:scale>
          <a:sx n="128" d="100"/>
          <a:sy n="128" d="100"/>
        </p:scale>
        <p:origin x="184" y="6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Pipeline_Case_Study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Pipeline_Case_Study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Pipeline_Case_Study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Pipeline_Case_Study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[Pipeline_Case_Study_Prompt_2026_d11.xlsx]Charts!PivotTable2</c:name>
    <c:fmtId val="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r>
              <a:rPr lang="en-US" dirty="0">
                <a:solidFill>
                  <a:schemeClr val="bg1"/>
                </a:solidFill>
              </a:rPr>
              <a:t>FY27 Pipeline by</a:t>
            </a:r>
            <a:r>
              <a:rPr lang="en-US" baseline="0" dirty="0">
                <a:solidFill>
                  <a:schemeClr val="bg1"/>
                </a:solidFill>
              </a:rPr>
              <a:t> Stage</a:t>
            </a:r>
            <a:endParaRPr lang="en-US" dirty="0">
              <a:solidFill>
                <a:schemeClr val="bg1"/>
              </a:solidFill>
            </a:endParaRPr>
          </a:p>
        </c:rich>
      </c:tx>
      <c:layout>
        <c:manualLayout>
          <c:xMode val="edge"/>
          <c:yMode val="edge"/>
          <c:x val="0.32001524876742776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circle"/>
          <c:size val="6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12700">
              <a:solidFill>
                <a:schemeClr val="lt2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circle"/>
          <c:size val="6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12700">
              <a:solidFill>
                <a:schemeClr val="lt2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circle"/>
          <c:size val="6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12700">
              <a:solidFill>
                <a:schemeClr val="lt2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circle"/>
          <c:size val="6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12700">
              <a:solidFill>
                <a:schemeClr val="lt2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circle"/>
          <c:size val="6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12700">
              <a:solidFill>
                <a:schemeClr val="lt2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circle"/>
          <c:size val="6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12700">
              <a:solidFill>
                <a:schemeClr val="lt2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Charts!$H$18:$H$19</c:f>
              <c:strCache>
                <c:ptCount val="1"/>
                <c:pt idx="0">
                  <c:v>Executable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Charts!$G$20</c:f>
              <c:strCache>
                <c:ptCount val="1"/>
                <c:pt idx="0">
                  <c:v>Total</c:v>
                </c:pt>
              </c:strCache>
            </c:strRef>
          </c:cat>
          <c:val>
            <c:numRef>
              <c:f>Charts!$H$20</c:f>
              <c:numCache>
                <c:formatCode>_("$"* #,##0.00_);_("$"* \(#,##0.00\);_("$"* "-"??_);_(@_)</c:formatCode>
                <c:ptCount val="1"/>
                <c:pt idx="0">
                  <c:v>11526400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8A2-964C-A347-0508B2BD92FD}"/>
            </c:ext>
          </c:extLst>
        </c:ser>
        <c:ser>
          <c:idx val="1"/>
          <c:order val="1"/>
          <c:tx>
            <c:strRef>
              <c:f>Charts!$I$18:$I$19</c:f>
              <c:strCache>
                <c:ptCount val="1"/>
                <c:pt idx="0">
                  <c:v>Contracted Backlog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Charts!$G$20</c:f>
              <c:strCache>
                <c:ptCount val="1"/>
                <c:pt idx="0">
                  <c:v>Total</c:v>
                </c:pt>
              </c:strCache>
            </c:strRef>
          </c:cat>
          <c:val>
            <c:numRef>
              <c:f>Charts!$I$20</c:f>
              <c:numCache>
                <c:formatCode>_("$"* #,##0.00_);_("$"* \(#,##0.00\);_("$"* "-"??_);_(@_)</c:formatCode>
                <c:ptCount val="1"/>
                <c:pt idx="0">
                  <c:v>683000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8A2-964C-A347-0508B2BD92FD}"/>
            </c:ext>
          </c:extLst>
        </c:ser>
        <c:ser>
          <c:idx val="2"/>
          <c:order val="2"/>
          <c:tx>
            <c:strRef>
              <c:f>Charts!$J$18:$J$19</c:f>
              <c:strCache>
                <c:ptCount val="1"/>
                <c:pt idx="0">
                  <c:v>Forecasted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satMod val="103000"/>
                    <a:lumMod val="102000"/>
                    <a:tint val="94000"/>
                  </a:schemeClr>
                </a:gs>
                <a:gs pos="50000">
                  <a:schemeClr val="accent3">
                    <a:satMod val="110000"/>
                    <a:lumMod val="100000"/>
                    <a:shade val="100000"/>
                  </a:schemeClr>
                </a:gs>
                <a:gs pos="100000">
                  <a:schemeClr val="accent3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Charts!$G$20</c:f>
              <c:strCache>
                <c:ptCount val="1"/>
                <c:pt idx="0">
                  <c:v>Total</c:v>
                </c:pt>
              </c:strCache>
            </c:strRef>
          </c:cat>
          <c:val>
            <c:numRef>
              <c:f>Charts!$J$20</c:f>
              <c:numCache>
                <c:formatCode>_("$"* #,##0.00_);_("$"* \(#,##0.00\);_("$"* "-"??_);_(@_)</c:formatCode>
                <c:ptCount val="1"/>
                <c:pt idx="0">
                  <c:v>38339459.5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8A2-964C-A347-0508B2BD92FD}"/>
            </c:ext>
          </c:extLst>
        </c:ser>
        <c:ser>
          <c:idx val="3"/>
          <c:order val="3"/>
          <c:tx>
            <c:strRef>
              <c:f>Charts!$K$18:$K$19</c:f>
              <c:strCache>
                <c:ptCount val="1"/>
                <c:pt idx="0">
                  <c:v>Contracted Pipeline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satMod val="103000"/>
                    <a:lumMod val="102000"/>
                    <a:tint val="94000"/>
                  </a:schemeClr>
                </a:gs>
                <a:gs pos="50000">
                  <a:schemeClr val="accent4">
                    <a:satMod val="110000"/>
                    <a:lumMod val="100000"/>
                    <a:shade val="100000"/>
                  </a:schemeClr>
                </a:gs>
                <a:gs pos="100000">
                  <a:schemeClr val="accent4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Charts!$G$20</c:f>
              <c:strCache>
                <c:ptCount val="1"/>
                <c:pt idx="0">
                  <c:v>Total</c:v>
                </c:pt>
              </c:strCache>
            </c:strRef>
          </c:cat>
          <c:val>
            <c:numRef>
              <c:f>Charts!$K$20</c:f>
              <c:numCache>
                <c:formatCode>_("$"* #,##0.00_);_("$"* \(#,##0.00\);_("$"* "-"??_);_(@_)</c:formatCode>
                <c:ptCount val="1"/>
                <c:pt idx="0">
                  <c:v>49477261.000000007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78A2-964C-A347-0508B2BD92FD}"/>
            </c:ext>
          </c:extLst>
        </c:ser>
        <c:ser>
          <c:idx val="4"/>
          <c:order val="4"/>
          <c:tx>
            <c:strRef>
              <c:f>Charts!$L$18:$L$19</c:f>
              <c:strCache>
                <c:ptCount val="1"/>
                <c:pt idx="0">
                  <c:v>Go-Get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satMod val="103000"/>
                    <a:lumMod val="102000"/>
                    <a:tint val="94000"/>
                  </a:schemeClr>
                </a:gs>
                <a:gs pos="50000">
                  <a:schemeClr val="accent5">
                    <a:satMod val="110000"/>
                    <a:lumMod val="100000"/>
                    <a:shade val="100000"/>
                  </a:schemeClr>
                </a:gs>
                <a:gs pos="100000">
                  <a:schemeClr val="accent5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Charts!$G$20</c:f>
              <c:strCache>
                <c:ptCount val="1"/>
                <c:pt idx="0">
                  <c:v>Total</c:v>
                </c:pt>
              </c:strCache>
            </c:strRef>
          </c:cat>
          <c:val>
            <c:numRef>
              <c:f>Charts!$L$20</c:f>
              <c:numCache>
                <c:formatCode>_("$"* #,##0.00_);_("$"* \(#,##0.00\);_("$"* "-"??_);_(@_)</c:formatCode>
                <c:ptCount val="1"/>
                <c:pt idx="0">
                  <c:v>28859498.5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8A2-964C-A347-0508B2BD92FD}"/>
            </c:ext>
          </c:extLst>
        </c:ser>
        <c:ser>
          <c:idx val="5"/>
          <c:order val="5"/>
          <c:tx>
            <c:strRef>
              <c:f>Charts!$M$18:$M$19</c:f>
              <c:strCache>
                <c:ptCount val="1"/>
                <c:pt idx="0">
                  <c:v>Contracted (unclassified)</c:v>
                </c:pt>
              </c:strCache>
            </c:strRef>
          </c:tx>
          <c:spPr>
            <a:gradFill rotWithShape="1">
              <a:gsLst>
                <a:gs pos="0">
                  <a:schemeClr val="accent6">
                    <a:satMod val="103000"/>
                    <a:lumMod val="102000"/>
                    <a:tint val="94000"/>
                  </a:schemeClr>
                </a:gs>
                <a:gs pos="50000">
                  <a:schemeClr val="accent6">
                    <a:satMod val="110000"/>
                    <a:lumMod val="100000"/>
                    <a:shade val="100000"/>
                  </a:schemeClr>
                </a:gs>
                <a:gs pos="100000">
                  <a:schemeClr val="accent6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Charts!$G$20</c:f>
              <c:strCache>
                <c:ptCount val="1"/>
                <c:pt idx="0">
                  <c:v>Total</c:v>
                </c:pt>
              </c:strCache>
            </c:strRef>
          </c:cat>
          <c:val>
            <c:numRef>
              <c:f>Charts!$M$20</c:f>
              <c:numCache>
                <c:formatCode>_("$"* #,##0.00_);_("$"* \(#,##0.00\);_("$"* "-"??_);_(@_)</c:formatCode>
                <c:ptCount val="1"/>
                <c:pt idx="0">
                  <c:v>33788999.683760688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78A2-964C-A347-0508B2BD92F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1662023231"/>
        <c:axId val="1662025023"/>
      </c:barChart>
      <c:catAx>
        <c:axId val="1662023231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662025023"/>
        <c:crosses val="autoZero"/>
        <c:auto val="1"/>
        <c:lblAlgn val="ctr"/>
        <c:lblOffset val="100"/>
        <c:noMultiLvlLbl val="0"/>
      </c:catAx>
      <c:valAx>
        <c:axId val="1662025023"/>
        <c:scaling>
          <c:orientation val="minMax"/>
        </c:scaling>
        <c:delete val="1"/>
        <c:axPos val="l"/>
        <c:numFmt formatCode="&quot;$&quot;#,##0.0,,&quot;M&quot;" sourceLinked="0"/>
        <c:majorTickMark val="none"/>
        <c:minorTickMark val="none"/>
        <c:tickLblPos val="nextTo"/>
        <c:crossAx val="166202323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[Pipeline_Case_Study_Prompt_2026_JishnuRamakrishnan.xlsx]Charts!PivotTable1</c:name>
    <c:fmtId val="3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en-US" dirty="0">
                <a:solidFill>
                  <a:schemeClr val="bg1"/>
                </a:solidFill>
              </a:rPr>
              <a:t>FY27 Pipeline by Division ($M)</a:t>
            </a:r>
          </a:p>
        </c:rich>
      </c:tx>
      <c:layout>
        <c:manualLayout>
          <c:xMode val="edge"/>
          <c:yMode val="edge"/>
          <c:x val="0.33003488024043542"/>
          <c:y val="5.488474204171240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circle"/>
          <c:size val="6"/>
        </c:marker>
        <c:dLbl>
          <c:idx val="0"/>
          <c:numFmt formatCode="&quot;$&quot;#,##0.0,,&quot;M&quot;" sourceLinked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2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eparator>, </c:separator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"/>
        <c:spPr>
          <a:gradFill rotWithShape="1">
            <a:gsLst>
              <a:gs pos="0">
                <a:schemeClr val="accent3">
                  <a:satMod val="103000"/>
                  <a:lumMod val="102000"/>
                  <a:tint val="94000"/>
                </a:schemeClr>
              </a:gs>
              <a:gs pos="50000">
                <a:schemeClr val="accent3">
                  <a:satMod val="110000"/>
                  <a:lumMod val="100000"/>
                  <a:shade val="100000"/>
                </a:schemeClr>
              </a:gs>
              <a:gs pos="100000">
                <a:schemeClr val="accent3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dLbl>
          <c:idx val="0"/>
          <c:numFmt formatCode="&quot;$&quot;#,##0.0,,&quot;M&quot;" sourceLinked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2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1"/>
          <c:showSerName val="0"/>
          <c:showPercent val="1"/>
          <c:showBubbleSize val="0"/>
          <c:separator>, </c:separator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  <c15:xForSave val="1"/>
            </c:ext>
          </c:extLst>
        </c:dLbl>
      </c:pivotFmt>
      <c:pivotFmt>
        <c:idx val="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dLbl>
          <c:idx val="0"/>
          <c:numFmt formatCode="&quot;$&quot;#,##0.0,,&quot;M&quot;" sourceLinked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2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1"/>
          <c:showSerName val="0"/>
          <c:showPercent val="1"/>
          <c:showBubbleSize val="0"/>
          <c:separator>, </c:separator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  <c15:xForSave val="1"/>
            </c:ext>
          </c:extLst>
        </c:dLbl>
      </c:pivotFmt>
      <c:pivotFmt>
        <c:idx val="3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dLbl>
          <c:idx val="0"/>
          <c:numFmt formatCode="&quot;$&quot;#,##0.0,,&quot;M&quot;" sourceLinked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2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1"/>
          <c:showSerName val="0"/>
          <c:showPercent val="1"/>
          <c:showBubbleSize val="0"/>
          <c:separator>, </c:separator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  <c15:xForSave val="1"/>
            </c:ext>
          </c:extLst>
        </c:dLbl>
      </c:pivotFmt>
      <c:pivotFmt>
        <c:idx val="4"/>
        <c:spPr>
          <a:gradFill rotWithShape="1">
            <a:gsLst>
              <a:gs pos="0">
                <a:schemeClr val="accent4">
                  <a:satMod val="103000"/>
                  <a:lumMod val="102000"/>
                  <a:tint val="94000"/>
                </a:schemeClr>
              </a:gs>
              <a:gs pos="50000">
                <a:schemeClr val="accent4">
                  <a:satMod val="110000"/>
                  <a:lumMod val="100000"/>
                  <a:shade val="100000"/>
                </a:schemeClr>
              </a:gs>
              <a:gs pos="100000">
                <a:schemeClr val="accent4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</c:pivotFmt>
      <c:pivotFmt>
        <c:idx val="5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</c:pivotFmt>
      <c:pivotFmt>
        <c:idx val="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numFmt formatCode="&quot;$&quot;#,##0.0,,&quot;M&quot;" sourceLinked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2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eparator>, </c:separator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</c:pivotFmt>
      <c:pivotFmt>
        <c:idx val="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</c:pivotFmt>
      <c:pivotFmt>
        <c:idx val="9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</c:pivotFmt>
      <c:pivotFmt>
        <c:idx val="1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</c:pivotFmt>
      <c:pivotFmt>
        <c:idx val="1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</c:pivotFmt>
      <c:pivotFmt>
        <c:idx val="1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numFmt formatCode="&quot;$&quot;#,##0.0,,&quot;M&quot;" sourceLinked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2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eparator>, </c:separator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</c:pivotFmt>
      <c:pivotFmt>
        <c:idx val="1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</c:pivotFmt>
      <c:pivotFmt>
        <c:idx val="1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</c:pivotFmt>
      <c:pivotFmt>
        <c:idx val="1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</c:pivotFmt>
      <c:pivotFmt>
        <c:idx val="1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</c:pivotFmt>
    </c:pivotFmts>
    <c:plotArea>
      <c:layout/>
      <c:ofPieChart>
        <c:ofPieType val="bar"/>
        <c:varyColors val="1"/>
        <c:ser>
          <c:idx val="0"/>
          <c:order val="0"/>
          <c:tx>
            <c:strRef>
              <c:f>Charts!$K$9</c:f>
              <c:strCache>
                <c:ptCount val="1"/>
                <c:pt idx="0">
                  <c:v>Total</c:v>
                </c:pt>
              </c:strCache>
            </c:strRef>
          </c:tx>
          <c:explosion val="1"/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70BA-574B-9F99-C4B533F25119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70BA-574B-9F99-C4B533F25119}"/>
              </c:ext>
            </c:extLst>
          </c:dPt>
          <c:dPt>
            <c:idx val="2"/>
            <c:bubble3D val="0"/>
            <c:spPr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70BA-574B-9F99-C4B533F25119}"/>
              </c:ext>
            </c:extLst>
          </c:dPt>
          <c:dPt>
            <c:idx val="3"/>
            <c:bubble3D val="0"/>
            <c:spPr>
              <a:gradFill rotWithShape="1">
                <a:gsLst>
                  <a:gs pos="0">
                    <a:schemeClr val="accent4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4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4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70BA-574B-9F99-C4B533F25119}"/>
              </c:ext>
            </c:extLst>
          </c:dPt>
          <c:dPt>
            <c:idx val="4"/>
            <c:bubble3D val="0"/>
            <c:spPr>
              <a:gradFill rotWithShape="1">
                <a:gsLst>
                  <a:gs pos="0">
                    <a:schemeClr val="accent5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5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5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70BA-574B-9F99-C4B533F25119}"/>
              </c:ext>
            </c:extLst>
          </c:dPt>
          <c:dPt>
            <c:idx val="5"/>
            <c:bubble3D val="0"/>
            <c:spPr>
              <a:gradFill rotWithShape="1">
                <a:gsLst>
                  <a:gs pos="0">
                    <a:schemeClr val="accent6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6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6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70BA-574B-9F99-C4B533F25119}"/>
              </c:ext>
            </c:extLst>
          </c:dPt>
          <c:dLbls>
            <c:numFmt formatCode="&quot;$&quot;#,##0.00,,&quot;M&quot;" sourceLinked="0"/>
            <c:spPr>
              <a:solidFill>
                <a:sysClr val="window" lastClr="FFFFFF"/>
              </a:solidFill>
              <a:ln>
                <a:solidFill>
                  <a:sysClr val="windowText" lastClr="000000">
                    <a:lumMod val="25000"/>
                    <a:lumOff val="75000"/>
                  </a:sys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dk2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Charts!$J$10:$J$15</c:f>
              <c:strCache>
                <c:ptCount val="5"/>
                <c:pt idx="0">
                  <c:v>Division 1</c:v>
                </c:pt>
                <c:pt idx="1">
                  <c:v>Division 2</c:v>
                </c:pt>
                <c:pt idx="2">
                  <c:v>Division 3</c:v>
                </c:pt>
                <c:pt idx="3">
                  <c:v>Division 4</c:v>
                </c:pt>
                <c:pt idx="4">
                  <c:v>Unknown</c:v>
                </c:pt>
              </c:strCache>
            </c:strRef>
          </c:cat>
          <c:val>
            <c:numRef>
              <c:f>Charts!$K$10:$K$15</c:f>
              <c:numCache>
                <c:formatCode>_("$"* #,##0.00_);_("$"* \(#,##0.00\);_("$"* "-"??_);_(@_)</c:formatCode>
                <c:ptCount val="5"/>
                <c:pt idx="0">
                  <c:v>20430000</c:v>
                </c:pt>
                <c:pt idx="1">
                  <c:v>46666838.933760688</c:v>
                </c:pt>
                <c:pt idx="2">
                  <c:v>92591400</c:v>
                </c:pt>
                <c:pt idx="3">
                  <c:v>31100</c:v>
                </c:pt>
                <c:pt idx="4">
                  <c:v>2955279.75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70BA-574B-9F99-C4B533F25119}"/>
            </c:ext>
          </c:extLst>
        </c:ser>
        <c:dLbls>
          <c:dLblPos val="outEnd"/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gapWidth val="219"/>
        <c:secondPieSize val="75"/>
        <c:serLines>
          <c:spPr>
            <a:ln w="9525">
              <a:solidFill>
                <a:schemeClr val="bg1"/>
              </a:solidFill>
              <a:prstDash val="dash"/>
            </a:ln>
            <a:effectLst/>
          </c:spPr>
        </c:serLines>
      </c:of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[Pipeline_Case_Study_Prompt_2026_JishnuRamakrishnan.xlsx]Charts!PivotTable3</c:name>
    <c:fmtId val="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Customer</a:t>
            </a:r>
            <a:r>
              <a:rPr lang="en-US" baseline="0" dirty="0"/>
              <a:t> 2 Revenue share</a:t>
            </a:r>
            <a:endParaRPr lang="en-US" dirty="0"/>
          </a:p>
        </c:rich>
      </c:tx>
      <c:layout>
        <c:manualLayout>
          <c:xMode val="edge"/>
          <c:yMode val="edge"/>
          <c:x val="0.19775989801129859"/>
          <c:y val="3.128749264004848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Charts!$K$47:$K$48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Charts!$J$49:$J$50</c:f>
              <c:strCache>
                <c:ptCount val="1"/>
                <c:pt idx="0">
                  <c:v>Customer 2</c:v>
                </c:pt>
              </c:strCache>
            </c:strRef>
          </c:cat>
          <c:val>
            <c:numRef>
              <c:f>Charts!$K$49:$K$50</c:f>
              <c:numCache>
                <c:formatCode>0.00%</c:formatCode>
                <c:ptCount val="1"/>
                <c:pt idx="0">
                  <c:v>0.41570202341238371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642-114C-A0CC-DA7AA937DC41}"/>
            </c:ext>
          </c:extLst>
        </c:ser>
        <c:ser>
          <c:idx val="1"/>
          <c:order val="1"/>
          <c:tx>
            <c:strRef>
              <c:f>Charts!$L$47:$L$48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Charts!$J$49:$J$50</c:f>
              <c:strCache>
                <c:ptCount val="1"/>
                <c:pt idx="0">
                  <c:v>Customer 2</c:v>
                </c:pt>
              </c:strCache>
            </c:strRef>
          </c:cat>
          <c:val>
            <c:numRef>
              <c:f>Charts!$L$49:$L$50</c:f>
              <c:numCache>
                <c:formatCode>0.00%</c:formatCode>
                <c:ptCount val="1"/>
                <c:pt idx="0">
                  <c:v>0.30457805905613256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642-114C-A0CC-DA7AA937DC41}"/>
            </c:ext>
          </c:extLst>
        </c:ser>
        <c:ser>
          <c:idx val="2"/>
          <c:order val="2"/>
          <c:tx>
            <c:strRef>
              <c:f>Charts!$M$47:$M$48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Charts!$J$49:$J$50</c:f>
              <c:strCache>
                <c:ptCount val="1"/>
                <c:pt idx="0">
                  <c:v>Customer 2</c:v>
                </c:pt>
              </c:strCache>
            </c:strRef>
          </c:cat>
          <c:val>
            <c:numRef>
              <c:f>Charts!$M$49:$M$50</c:f>
              <c:numCache>
                <c:formatCode>0.00%</c:formatCode>
                <c:ptCount val="1"/>
                <c:pt idx="0">
                  <c:v>0.15434914960966517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642-114C-A0CC-DA7AA937DC41}"/>
            </c:ext>
          </c:extLst>
        </c:ser>
        <c:ser>
          <c:idx val="3"/>
          <c:order val="3"/>
          <c:tx>
            <c:strRef>
              <c:f>Charts!$N$47:$N$48</c:f>
              <c:strCache>
                <c:ptCount val="1"/>
                <c:pt idx="0">
                  <c:v>2027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Charts!$J$49:$J$50</c:f>
              <c:strCache>
                <c:ptCount val="1"/>
                <c:pt idx="0">
                  <c:v>Customer 2</c:v>
                </c:pt>
              </c:strCache>
            </c:strRef>
          </c:cat>
          <c:val>
            <c:numRef>
              <c:f>Charts!$N$49:$N$50</c:f>
              <c:numCache>
                <c:formatCode>0.00%</c:formatCode>
                <c:ptCount val="1"/>
                <c:pt idx="0">
                  <c:v>0.12537076792181848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1642-114C-A0CC-DA7AA937DC4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678287167"/>
        <c:axId val="1678292991"/>
      </c:barChart>
      <c:catAx>
        <c:axId val="1678287167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678292991"/>
        <c:crosses val="autoZero"/>
        <c:auto val="1"/>
        <c:lblAlgn val="ctr"/>
        <c:lblOffset val="100"/>
        <c:noMultiLvlLbl val="0"/>
      </c:catAx>
      <c:valAx>
        <c:axId val="1678292991"/>
        <c:scaling>
          <c:orientation val="minMax"/>
        </c:scaling>
        <c:delete val="0"/>
        <c:axPos val="l"/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7828716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[Pipeline_Case_Study_Prompt_2026_JishnuRamakrishnan.xlsx]Charts!PivotTable12</c:name>
    <c:fmtId val="4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FY26</a:t>
            </a:r>
            <a:r>
              <a:rPr lang="en-US" baseline="0"/>
              <a:t> Pipeline by Division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numFmt formatCode="&quot;$&quot;#,##0.00,,&quot;M&quot;" sourceLinked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numFmt formatCode="&quot;$&quot;#,##0.00,,&quot;M&quot;" sourceLinked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numFmt formatCode="&quot;$&quot;#,##0.00,,&quot;M&quot;" sourceLinked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</c:pivotFmt>
    </c:pivotFmts>
    <c:plotArea>
      <c:layout/>
      <c:pieChart>
        <c:varyColors val="1"/>
        <c:ser>
          <c:idx val="0"/>
          <c:order val="0"/>
          <c:tx>
            <c:strRef>
              <c:f>Charts!$P$9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D7CD-DF48-B70F-352EBBB4A2AF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D7CD-DF48-B70F-352EBBB4A2AF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D7CD-DF48-B70F-352EBBB4A2AF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D7CD-DF48-B70F-352EBBB4A2AF}"/>
              </c:ext>
            </c:extLst>
          </c:dPt>
          <c:dLbls>
            <c:numFmt formatCode="&quot;$&quot;#,##0.00,,&quot;M&quot;" sourceLinked="0"/>
            <c:spPr>
              <a:solidFill>
                <a:sysClr val="window" lastClr="FFFFFF"/>
              </a:solidFill>
              <a:ln>
                <a:solidFill>
                  <a:sysClr val="windowText" lastClr="000000">
                    <a:lumMod val="25000"/>
                    <a:lumOff val="75000"/>
                  </a:sys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Charts!$O$10:$O$14</c:f>
              <c:strCache>
                <c:ptCount val="4"/>
                <c:pt idx="0">
                  <c:v>Division 1</c:v>
                </c:pt>
                <c:pt idx="1">
                  <c:v>Division 2</c:v>
                </c:pt>
                <c:pt idx="2">
                  <c:v>Division 3</c:v>
                </c:pt>
                <c:pt idx="3">
                  <c:v>Division 4</c:v>
                </c:pt>
              </c:strCache>
            </c:strRef>
          </c:cat>
          <c:val>
            <c:numRef>
              <c:f>Charts!$P$10:$P$14</c:f>
              <c:numCache>
                <c:formatCode>_("$"* #,##0.00_);_("$"* \(#,##0.00\);_("$"* "-"??_);_(@_)</c:formatCode>
                <c:ptCount val="4"/>
                <c:pt idx="0">
                  <c:v>9725000</c:v>
                </c:pt>
                <c:pt idx="1">
                  <c:v>22339538.727272727</c:v>
                </c:pt>
                <c:pt idx="2">
                  <c:v>35389062.757317722</c:v>
                </c:pt>
                <c:pt idx="3">
                  <c:v>13702924.099285711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D7CD-DF48-B70F-352EBBB4A2A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7">
  <cs:axisTitle>
    <cs:lnRef idx="0"/>
    <cs:fillRef idx="0"/>
    <cs:effectRef idx="0"/>
    <cs:fontRef idx="minor">
      <a:schemeClr val="tx2"/>
    </cs:fontRef>
    <cs:defRPr sz="900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2"/>
    </cs:fontRef>
    <cs:defRPr sz="900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  <a:lumOff val="2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900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1600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900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900" kern="1200"/>
  </cs:valueAxis>
  <cs:wall>
    <cs:lnRef idx="0"/>
    <cs:fillRef idx="0"/>
    <cs:effectRef idx="0"/>
    <cs:fontRef idx="minor">
      <a:schemeClr val="tx2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55">
  <cs:axisTitle>
    <cs:lnRef idx="0"/>
    <cs:fillRef idx="0"/>
    <cs:effectRef idx="0"/>
    <cs:fontRef idx="minor">
      <a:schemeClr val="tx2"/>
    </cs:fontRef>
    <cs:defRPr sz="900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2"/>
    </cs:fontRef>
    <cs:defRPr sz="900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900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1600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900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900" kern="1200"/>
  </cs:valueAxis>
  <cs:wall>
    <cs:lnRef idx="0"/>
    <cs:fillRef idx="0"/>
    <cs:effectRef idx="0"/>
    <cs:fontRef idx="minor">
      <a:schemeClr val="tx2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0CEB9B-2284-034C-A3B8-9279AE641790}" type="datetimeFigureOut">
              <a:rPr lang="en-US" smtClean="0"/>
              <a:t>9/14/26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7718FC-70FF-6848-9D44-92C415E3A5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3747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7718FC-70FF-6848-9D44-92C415E3A5A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6109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11A14-91DC-E999-C04F-01550B27B7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6DB729-6AC9-7D78-26CD-20CE7C426F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9F977C-2AEE-464B-A15C-65B5A32C9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A1E0E-3207-7540-B292-B48038063E3C}" type="datetimeFigureOut">
              <a:rPr lang="en-US" smtClean="0"/>
              <a:t>9/13/26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7D7916-BC8A-322E-FDEE-C36834354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98B113-689D-41ED-C333-9E5D0FE65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B9EEA-6374-D144-807F-9FA67D555E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761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7E745-02EC-9416-284A-E5FF5E4E0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A99CEB-9077-AB22-F1B3-0FCF0B77A4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26B34F-206D-1530-15FC-4951BD02D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A1E0E-3207-7540-B292-B48038063E3C}" type="datetimeFigureOut">
              <a:rPr lang="en-US" smtClean="0"/>
              <a:t>9/13/26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6C29DC-9946-AF11-E20B-0525922F9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BC6D41-3E0A-48DA-8FF2-B141541E7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B9EEA-6374-D144-807F-9FA67D555E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3589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7DD2F-9778-EF38-49B8-94404E91BD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99FC87-42AF-D374-EB33-E87C55DA2B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C66F97-1F08-37DE-4D82-AD8612EFF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A1E0E-3207-7540-B292-B48038063E3C}" type="datetimeFigureOut">
              <a:rPr lang="en-US" smtClean="0"/>
              <a:t>9/13/26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0441EA-1B4E-BC56-B6F0-241B53DFA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336DDF-E63D-0999-B93D-45E1BF9DE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B9EEA-6374-D144-807F-9FA67D555E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9060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01972-FF9D-00D1-B0AF-CBDD5934D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35146C-3786-BFC4-7EAC-E405AD0BE2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8DB754-6082-D91F-22FA-047075537D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AACF9A-7D25-0D7F-8950-BEA16531B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A1E0E-3207-7540-B292-B48038063E3C}" type="datetimeFigureOut">
              <a:rPr lang="en-US" smtClean="0"/>
              <a:t>9/13/26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99E0A2-0993-B111-F10F-7071B722B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C8EB47-19CC-1BE4-25F8-930100B35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B9EEA-6374-D144-807F-9FA67D555E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098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4746F-CF72-10A6-2E79-75925953D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06DE9D-DB4C-BAE2-8359-7925AC6FAF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FCD856-7A53-23EF-0252-ABD8E4FE6F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159A94-4516-EE0D-13BF-DF11EB7457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912547-39E3-9317-5AE1-DE7775EEE1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776403-44FA-BA62-0840-EE720BB15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A1E0E-3207-7540-B292-B48038063E3C}" type="datetimeFigureOut">
              <a:rPr lang="en-US" smtClean="0"/>
              <a:t>9/13/26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F15550-6F65-B2FA-7985-09D72172F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6553B0-978D-6B56-D26D-B72686C7D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B9EEA-6374-D144-807F-9FA67D555E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6382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4C789-CA3A-7F06-5631-E6D414BBF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A74929-29B4-B625-23B8-66CBFC3FD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A1E0E-3207-7540-B292-B48038063E3C}" type="datetimeFigureOut">
              <a:rPr lang="en-US" smtClean="0"/>
              <a:t>9/13/26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A6DC1A-B2AA-7DBC-6B22-0E8E0AC12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039946-CD92-0A1E-3FD9-4DD97B8DA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B9EEA-6374-D144-807F-9FA67D555E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3619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014758-5F2C-DB64-CAB4-69ABDBF0F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A1E0E-3207-7540-B292-B48038063E3C}" type="datetimeFigureOut">
              <a:rPr lang="en-US" smtClean="0"/>
              <a:t>9/13/26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81F302-93A3-CDA4-46EC-619AA84BA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831D17-0DCC-511E-5FCD-264F9042C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B9EEA-6374-D144-807F-9FA67D555E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213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803CC-73E7-A91A-3803-566BCC29C7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32C273-08D9-BE58-7ACC-FB149088A1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132C62-37B6-6001-8032-D58BFE83A8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04704F-7A5E-3D0D-5618-F868D8512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A1E0E-3207-7540-B292-B48038063E3C}" type="datetimeFigureOut">
              <a:rPr lang="en-US" smtClean="0"/>
              <a:t>9/13/26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F19AF4-2963-3E3A-72F5-290EF511A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F25634-6DC3-DB0F-9980-F9929B526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B9EEA-6374-D144-807F-9FA67D555E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6672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64711-752D-7652-9B5E-0E8F906D7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1F694D-EABC-80FE-7861-9275B1C83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9BB2C4-20A1-DA58-DC99-7D341C3D61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23E49F-B953-EE45-9713-0A1759A10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A1E0E-3207-7540-B292-B48038063E3C}" type="datetimeFigureOut">
              <a:rPr lang="en-US" smtClean="0"/>
              <a:t>9/13/26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892A34-03FC-6CFC-5CB5-132514319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2EE1FE-675F-6849-BCFE-75BCC770B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B9EEA-6374-D144-807F-9FA67D555E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376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8A45B-1757-69C2-2B1D-64533E8BF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94F76F-B4E4-9863-6B03-C47A5AF993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226ECC-A5C8-1153-4FA4-9ABBB1E11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A1E0E-3207-7540-B292-B48038063E3C}" type="datetimeFigureOut">
              <a:rPr lang="en-US" smtClean="0"/>
              <a:t>9/13/26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709084-F4B4-AFFA-EA22-0584CBFD4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75B90E-0EC5-1011-C312-B9E0A7B62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B9EEA-6374-D144-807F-9FA67D555E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0230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11EF3C-C0B5-2C33-A9F9-718A40D4A4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EA5778-3E33-0965-D108-3498AB599C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B92074-423F-AA7D-4EC5-BB409EB00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A1E0E-3207-7540-B292-B48038063E3C}" type="datetimeFigureOut">
              <a:rPr lang="en-US" smtClean="0"/>
              <a:t>9/13/26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4074C4-3DE4-006B-9EE8-404252073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B5C829-C3FB-1ED5-6745-72372DD5E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B9EEA-6374-D144-807F-9FA67D555E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197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243550F-712B-3C5D-E3DB-03842EE96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7C7BC2-2AEC-26AD-9EF4-655AEAB384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CDB16F-1A0E-D647-F6FC-1DA52BF63C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CA1E0E-3207-7540-B292-B48038063E3C}" type="datetimeFigureOut">
              <a:rPr lang="en-US" smtClean="0"/>
              <a:t>9/13/26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BF91B0-066C-A56A-101E-3814292419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7DDD57-F721-75FF-61C0-E4DE215520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DB9EEA-6374-D144-807F-9FA67D555E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099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83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21470-2946-C021-E6B8-FB1CAADE7F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b="1" dirty="0">
                <a:solidFill>
                  <a:schemeClr val="bg1"/>
                </a:solidFill>
              </a:rPr>
              <a:t>FY 27 Pipeline Review</a:t>
            </a:r>
            <a:br>
              <a:rPr lang="en-US" b="1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Provisional Operating Plan</a:t>
            </a:r>
            <a:br>
              <a:rPr lang="en-US" b="1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Recommendation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06AC74-38A1-B79A-926B-85225859343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</a:rPr>
              <a:t>September 2026</a:t>
            </a:r>
          </a:p>
        </p:txBody>
      </p:sp>
    </p:spTree>
    <p:extLst>
      <p:ext uri="{BB962C8B-B14F-4D97-AF65-F5344CB8AC3E}">
        <p14:creationId xmlns:p14="http://schemas.microsoft.com/office/powerpoint/2010/main" val="42587628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83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">
            <a:extLst>
              <a:ext uri="{FF2B5EF4-FFF2-40B4-BE49-F238E27FC236}">
                <a16:creationId xmlns:a16="http://schemas.microsoft.com/office/drawing/2014/main" id="{77425038-1429-8FD3-3108-D36487E9F8AF}"/>
              </a:ext>
            </a:extLst>
          </p:cNvPr>
          <p:cNvSpPr/>
          <p:nvPr/>
        </p:nvSpPr>
        <p:spPr>
          <a:xfrm>
            <a:off x="0" y="9421"/>
            <a:ext cx="12192000" cy="1097280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484B2DF-F534-A958-58FA-3B0FEB33B118}"/>
              </a:ext>
            </a:extLst>
          </p:cNvPr>
          <p:cNvSpPr/>
          <p:nvPr/>
        </p:nvSpPr>
        <p:spPr>
          <a:xfrm>
            <a:off x="854348" y="1385438"/>
            <a:ext cx="10358582" cy="1097280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04057C9-248B-E8CF-19EE-12CFF347597F}"/>
              </a:ext>
            </a:extLst>
          </p:cNvPr>
          <p:cNvSpPr txBox="1"/>
          <p:nvPr/>
        </p:nvSpPr>
        <p:spPr>
          <a:xfrm>
            <a:off x="1231191" y="14246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C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Provisional FY27 Planning Estimate</a:t>
            </a:r>
            <a:endParaRPr lang="en-US" sz="12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D63B0E3-C561-A7F6-D934-407932EC87D8}"/>
              </a:ext>
            </a:extLst>
          </p:cNvPr>
          <p:cNvSpPr txBox="1"/>
          <p:nvPr/>
        </p:nvSpPr>
        <p:spPr>
          <a:xfrm>
            <a:off x="1384978" y="170547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218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$92.5M</a:t>
            </a:r>
            <a:endParaRPr lang="en-US" sz="4400" dirty="0">
              <a:solidFill>
                <a:srgbClr val="218379"/>
              </a:solidFill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ECB123C-EF27-C389-D6FA-EA6F5325B6A5}"/>
              </a:ext>
            </a:extLst>
          </p:cNvPr>
          <p:cNvSpPr txBox="1"/>
          <p:nvPr/>
        </p:nvSpPr>
        <p:spPr>
          <a:xfrm>
            <a:off x="4888791" y="1512621"/>
            <a:ext cx="589002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218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stage-weighted planning assumptions, not measured historical rates</a:t>
            </a:r>
            <a:endParaRPr lang="en-US" sz="1400" b="1" dirty="0">
              <a:solidFill>
                <a:srgbClr val="218379"/>
              </a:solidFill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CEEDBD0E-3804-C3B7-60A2-F6E94A0A0574}"/>
              </a:ext>
            </a:extLst>
          </p:cNvPr>
          <p:cNvSpPr>
            <a:spLocks/>
          </p:cNvSpPr>
          <p:nvPr/>
        </p:nvSpPr>
        <p:spPr>
          <a:xfrm>
            <a:off x="2027165" y="2678077"/>
            <a:ext cx="2417002" cy="1395153"/>
          </a:xfrm>
          <a:prstGeom prst="rect">
            <a:avLst/>
          </a:prstGeom>
          <a:solidFill>
            <a:srgbClr val="F2F4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8FFDAA61-D843-C627-1F13-473D2B46656C}"/>
              </a:ext>
            </a:extLst>
          </p:cNvPr>
          <p:cNvSpPr txBox="1">
            <a:spLocks/>
          </p:cNvSpPr>
          <p:nvPr/>
        </p:nvSpPr>
        <p:spPr>
          <a:xfrm>
            <a:off x="2027165" y="2771087"/>
            <a:ext cx="2417002" cy="558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18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$162.7M</a:t>
            </a:r>
            <a:endParaRPr lang="en-US" sz="2800" dirty="0">
              <a:solidFill>
                <a:srgbClr val="218379"/>
              </a:solidFill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18747A59-9EA4-82AB-C9B9-EBBA464FE79C}"/>
              </a:ext>
            </a:extLst>
          </p:cNvPr>
          <p:cNvSpPr txBox="1">
            <a:spLocks/>
          </p:cNvSpPr>
          <p:nvPr/>
        </p:nvSpPr>
        <p:spPr>
          <a:xfrm>
            <a:off x="2027165" y="3329148"/>
            <a:ext cx="2417002" cy="6510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8C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Submitted FY27</a:t>
            </a:r>
            <a:endParaRPr lang="en-US" sz="1100" b="1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8C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pipeline</a:t>
            </a:r>
            <a:endParaRPr lang="en-US" sz="1100" b="1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12A37029-69DD-2F4E-4385-E862C778A11C}"/>
              </a:ext>
            </a:extLst>
          </p:cNvPr>
          <p:cNvSpPr>
            <a:spLocks/>
          </p:cNvSpPr>
          <p:nvPr/>
        </p:nvSpPr>
        <p:spPr>
          <a:xfrm>
            <a:off x="4674358" y="2678077"/>
            <a:ext cx="2417002" cy="1395153"/>
          </a:xfrm>
          <a:prstGeom prst="rect">
            <a:avLst/>
          </a:prstGeom>
          <a:solidFill>
            <a:srgbClr val="F2F4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BC2E8040-E3CB-750C-B52E-0DF044312FC4}"/>
              </a:ext>
            </a:extLst>
          </p:cNvPr>
          <p:cNvSpPr txBox="1">
            <a:spLocks/>
          </p:cNvSpPr>
          <p:nvPr/>
        </p:nvSpPr>
        <p:spPr>
          <a:xfrm>
            <a:off x="4674358" y="2771087"/>
            <a:ext cx="2417002" cy="558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18379"/>
                </a:solidFill>
                <a:latin typeface="Calibri" pitchFamily="34" charset="0"/>
                <a:cs typeface="Calibri" pitchFamily="34" charset="-120"/>
              </a:rPr>
              <a:t>$70.7M</a:t>
            </a:r>
            <a:endParaRPr lang="en-US" sz="2800" dirty="0">
              <a:solidFill>
                <a:srgbClr val="218379"/>
              </a:solidFill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DEED785A-CC23-388E-001B-C21FF14E7E1A}"/>
              </a:ext>
            </a:extLst>
          </p:cNvPr>
          <p:cNvSpPr txBox="1">
            <a:spLocks/>
          </p:cNvSpPr>
          <p:nvPr/>
        </p:nvSpPr>
        <p:spPr>
          <a:xfrm>
            <a:off x="4674358" y="3329148"/>
            <a:ext cx="2417002" cy="6510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8C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Estimate for FY27</a:t>
            </a:r>
            <a:endParaRPr lang="en-US" sz="1100" b="1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9227CB21-E180-613D-A618-D3B6C052B5C9}"/>
              </a:ext>
            </a:extLst>
          </p:cNvPr>
          <p:cNvSpPr>
            <a:spLocks/>
          </p:cNvSpPr>
          <p:nvPr/>
        </p:nvSpPr>
        <p:spPr>
          <a:xfrm>
            <a:off x="7321551" y="2678077"/>
            <a:ext cx="2417002" cy="1395153"/>
          </a:xfrm>
          <a:prstGeom prst="rect">
            <a:avLst/>
          </a:prstGeom>
          <a:solidFill>
            <a:srgbClr val="F2F4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47593DC0-D553-4F07-1686-C86FEEDC09B3}"/>
              </a:ext>
            </a:extLst>
          </p:cNvPr>
          <p:cNvSpPr txBox="1">
            <a:spLocks/>
          </p:cNvSpPr>
          <p:nvPr/>
        </p:nvSpPr>
        <p:spPr>
          <a:xfrm>
            <a:off x="7321551" y="2771087"/>
            <a:ext cx="2417002" cy="558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18379"/>
                </a:solidFill>
                <a:latin typeface="Calibri" pitchFamily="34" charset="0"/>
                <a:cs typeface="Calibri" pitchFamily="34" charset="-120"/>
              </a:rPr>
              <a:t>$114.3M</a:t>
            </a:r>
            <a:endParaRPr lang="en-US" sz="2800" dirty="0">
              <a:solidFill>
                <a:srgbClr val="218379"/>
              </a:solidFill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C98E5269-21E8-A93E-273D-58A55CA11553}"/>
              </a:ext>
            </a:extLst>
          </p:cNvPr>
          <p:cNvSpPr txBox="1">
            <a:spLocks/>
          </p:cNvSpPr>
          <p:nvPr/>
        </p:nvSpPr>
        <p:spPr>
          <a:xfrm>
            <a:off x="7321551" y="3329148"/>
            <a:ext cx="2417002" cy="6510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8C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Optimistic Estimate for FY27</a:t>
            </a:r>
            <a:endParaRPr lang="en-US" sz="1100" b="1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46190AB4-E6B1-2424-5200-D28377F17156}"/>
              </a:ext>
            </a:extLst>
          </p:cNvPr>
          <p:cNvSpPr txBox="1"/>
          <p:nvPr/>
        </p:nvSpPr>
        <p:spPr>
          <a:xfrm>
            <a:off x="854347" y="5737630"/>
            <a:ext cx="1035858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working estimate from submitted pipeline data. Final approval depends on validating Division 4's submission, confirming the $33.8M unclassified bucket, and verifying the largest opportunity. Decline is mostly a data problem.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2" name="Text 1">
            <a:extLst>
              <a:ext uri="{FF2B5EF4-FFF2-40B4-BE49-F238E27FC236}">
                <a16:creationId xmlns:a16="http://schemas.microsoft.com/office/drawing/2014/main" id="{E64A966A-FD05-0A30-69E6-17D84E65184D}"/>
              </a:ext>
            </a:extLst>
          </p:cNvPr>
          <p:cNvSpPr txBox="1"/>
          <p:nvPr/>
        </p:nvSpPr>
        <p:spPr>
          <a:xfrm>
            <a:off x="457199" y="27430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8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3200" dirty="0">
              <a:solidFill>
                <a:srgbClr val="218379"/>
              </a:solidFill>
            </a:endParaRPr>
          </a:p>
        </p:txBody>
      </p:sp>
      <p:sp>
        <p:nvSpPr>
          <p:cNvPr id="24" name="Shape 18">
            <a:extLst>
              <a:ext uri="{FF2B5EF4-FFF2-40B4-BE49-F238E27FC236}">
                <a16:creationId xmlns:a16="http://schemas.microsoft.com/office/drawing/2014/main" id="{62162D8A-CDBA-9FA2-3539-845A9787E830}"/>
              </a:ext>
            </a:extLst>
          </p:cNvPr>
          <p:cNvSpPr/>
          <p:nvPr/>
        </p:nvSpPr>
        <p:spPr>
          <a:xfrm>
            <a:off x="854347" y="4323253"/>
            <a:ext cx="10358582" cy="1265356"/>
          </a:xfrm>
          <a:prstGeom prst="rect">
            <a:avLst/>
          </a:prstGeom>
          <a:solidFill>
            <a:srgbClr val="F2F4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0">
            <a:extLst>
              <a:ext uri="{FF2B5EF4-FFF2-40B4-BE49-F238E27FC236}">
                <a16:creationId xmlns:a16="http://schemas.microsoft.com/office/drawing/2014/main" id="{F952C62D-5557-F328-7BD2-A08C8050B26C}"/>
              </a:ext>
            </a:extLst>
          </p:cNvPr>
          <p:cNvSpPr txBox="1"/>
          <p:nvPr/>
        </p:nvSpPr>
        <p:spPr>
          <a:xfrm>
            <a:off x="1010650" y="4439556"/>
            <a:ext cx="2186812" cy="338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C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FY24 actual</a:t>
            </a:r>
            <a:endParaRPr lang="en-US" sz="1000" dirty="0"/>
          </a:p>
        </p:txBody>
      </p:sp>
      <p:sp>
        <p:nvSpPr>
          <p:cNvPr id="27" name="Text 21">
            <a:extLst>
              <a:ext uri="{FF2B5EF4-FFF2-40B4-BE49-F238E27FC236}">
                <a16:creationId xmlns:a16="http://schemas.microsoft.com/office/drawing/2014/main" id="{95986D98-37F9-15FD-06E7-52AC161739DE}"/>
              </a:ext>
            </a:extLst>
          </p:cNvPr>
          <p:cNvSpPr txBox="1"/>
          <p:nvPr/>
        </p:nvSpPr>
        <p:spPr>
          <a:xfrm>
            <a:off x="1010650" y="4777780"/>
            <a:ext cx="2186812" cy="405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8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$159.8M</a:t>
            </a:r>
            <a:endParaRPr lang="en-US" sz="1600" dirty="0">
              <a:solidFill>
                <a:srgbClr val="218379"/>
              </a:solidFill>
            </a:endParaRPr>
          </a:p>
        </p:txBody>
      </p:sp>
      <p:sp>
        <p:nvSpPr>
          <p:cNvPr id="28" name="Text 22">
            <a:extLst>
              <a:ext uri="{FF2B5EF4-FFF2-40B4-BE49-F238E27FC236}">
                <a16:creationId xmlns:a16="http://schemas.microsoft.com/office/drawing/2014/main" id="{ED4EB272-8B38-1DF9-9221-B87EFF4301B1}"/>
              </a:ext>
            </a:extLst>
          </p:cNvPr>
          <p:cNvSpPr txBox="1"/>
          <p:nvPr/>
        </p:nvSpPr>
        <p:spPr>
          <a:xfrm>
            <a:off x="3485200" y="4439556"/>
            <a:ext cx="2186812" cy="338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C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FY25 actual</a:t>
            </a:r>
            <a:endParaRPr lang="en-US" sz="1000" dirty="0"/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3F49C35B-E2CD-198F-C419-0798FDA061F8}"/>
              </a:ext>
            </a:extLst>
          </p:cNvPr>
          <p:cNvSpPr txBox="1"/>
          <p:nvPr/>
        </p:nvSpPr>
        <p:spPr>
          <a:xfrm>
            <a:off x="3485200" y="4777780"/>
            <a:ext cx="2186812" cy="405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8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$149.5M</a:t>
            </a:r>
            <a:endParaRPr lang="en-US" sz="1600" dirty="0">
              <a:solidFill>
                <a:srgbClr val="218379"/>
              </a:solidFill>
            </a:endParaRPr>
          </a:p>
        </p:txBody>
      </p:sp>
      <p:sp>
        <p:nvSpPr>
          <p:cNvPr id="30" name="Text 24">
            <a:extLst>
              <a:ext uri="{FF2B5EF4-FFF2-40B4-BE49-F238E27FC236}">
                <a16:creationId xmlns:a16="http://schemas.microsoft.com/office/drawing/2014/main" id="{4D4ACFFD-ACE9-D8CE-B853-690D246C4919}"/>
              </a:ext>
            </a:extLst>
          </p:cNvPr>
          <p:cNvSpPr txBox="1"/>
          <p:nvPr/>
        </p:nvSpPr>
        <p:spPr>
          <a:xfrm>
            <a:off x="3485200" y="5183650"/>
            <a:ext cx="2186812" cy="270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−6.5%</a:t>
            </a:r>
            <a:endParaRPr lang="en-US" sz="1000" dirty="0"/>
          </a:p>
        </p:txBody>
      </p:sp>
      <p:sp>
        <p:nvSpPr>
          <p:cNvPr id="31" name="Text 25">
            <a:extLst>
              <a:ext uri="{FF2B5EF4-FFF2-40B4-BE49-F238E27FC236}">
                <a16:creationId xmlns:a16="http://schemas.microsoft.com/office/drawing/2014/main" id="{F8C7CD5B-0FB6-07D5-6586-73F171D867EF}"/>
              </a:ext>
            </a:extLst>
          </p:cNvPr>
          <p:cNvSpPr txBox="1"/>
          <p:nvPr/>
        </p:nvSpPr>
        <p:spPr>
          <a:xfrm>
            <a:off x="5959750" y="4439556"/>
            <a:ext cx="2186812" cy="338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C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FY26 est.</a:t>
            </a:r>
            <a:endParaRPr lang="en-US" sz="1000" dirty="0"/>
          </a:p>
        </p:txBody>
      </p:sp>
      <p:sp>
        <p:nvSpPr>
          <p:cNvPr id="32" name="Text 26">
            <a:extLst>
              <a:ext uri="{FF2B5EF4-FFF2-40B4-BE49-F238E27FC236}">
                <a16:creationId xmlns:a16="http://schemas.microsoft.com/office/drawing/2014/main" id="{76F5D6A6-116A-CF5F-9122-B13A16647FD1}"/>
              </a:ext>
            </a:extLst>
          </p:cNvPr>
          <p:cNvSpPr txBox="1"/>
          <p:nvPr/>
        </p:nvSpPr>
        <p:spPr>
          <a:xfrm>
            <a:off x="5959750" y="4777780"/>
            <a:ext cx="2186812" cy="405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8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$136.7M</a:t>
            </a:r>
            <a:endParaRPr lang="en-US" sz="1600" dirty="0">
              <a:solidFill>
                <a:srgbClr val="218379"/>
              </a:solidFill>
            </a:endParaRPr>
          </a:p>
        </p:txBody>
      </p:sp>
      <p:sp>
        <p:nvSpPr>
          <p:cNvPr id="33" name="Text 27">
            <a:extLst>
              <a:ext uri="{FF2B5EF4-FFF2-40B4-BE49-F238E27FC236}">
                <a16:creationId xmlns:a16="http://schemas.microsoft.com/office/drawing/2014/main" id="{2A7B9752-CB2D-80E0-1046-A875F1C09A93}"/>
              </a:ext>
            </a:extLst>
          </p:cNvPr>
          <p:cNvSpPr txBox="1"/>
          <p:nvPr/>
        </p:nvSpPr>
        <p:spPr>
          <a:xfrm>
            <a:off x="5959750" y="5183650"/>
            <a:ext cx="2186812" cy="270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−8.6%</a:t>
            </a:r>
            <a:endParaRPr lang="en-US" sz="1000" dirty="0"/>
          </a:p>
        </p:txBody>
      </p:sp>
      <p:sp>
        <p:nvSpPr>
          <p:cNvPr id="34" name="Text 28">
            <a:extLst>
              <a:ext uri="{FF2B5EF4-FFF2-40B4-BE49-F238E27FC236}">
                <a16:creationId xmlns:a16="http://schemas.microsoft.com/office/drawing/2014/main" id="{3E434600-6DC8-4197-819D-791809EC8660}"/>
              </a:ext>
            </a:extLst>
          </p:cNvPr>
          <p:cNvSpPr txBox="1"/>
          <p:nvPr/>
        </p:nvSpPr>
        <p:spPr>
          <a:xfrm>
            <a:off x="8434300" y="4439556"/>
            <a:ext cx="2186812" cy="338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C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FY27 est.</a:t>
            </a:r>
            <a:endParaRPr lang="en-US" sz="1000" dirty="0"/>
          </a:p>
        </p:txBody>
      </p:sp>
      <p:sp>
        <p:nvSpPr>
          <p:cNvPr id="35" name="Text 29">
            <a:extLst>
              <a:ext uri="{FF2B5EF4-FFF2-40B4-BE49-F238E27FC236}">
                <a16:creationId xmlns:a16="http://schemas.microsoft.com/office/drawing/2014/main" id="{2661F492-7BB0-578F-B862-7479A9F18383}"/>
              </a:ext>
            </a:extLst>
          </p:cNvPr>
          <p:cNvSpPr txBox="1"/>
          <p:nvPr/>
        </p:nvSpPr>
        <p:spPr>
          <a:xfrm>
            <a:off x="8434300" y="4777780"/>
            <a:ext cx="2186812" cy="405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8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$92.5M</a:t>
            </a:r>
            <a:endParaRPr lang="en-US" sz="1600" dirty="0">
              <a:solidFill>
                <a:srgbClr val="218379"/>
              </a:solidFill>
            </a:endParaRPr>
          </a:p>
        </p:txBody>
      </p:sp>
      <p:sp>
        <p:nvSpPr>
          <p:cNvPr id="36" name="Text 30">
            <a:extLst>
              <a:ext uri="{FF2B5EF4-FFF2-40B4-BE49-F238E27FC236}">
                <a16:creationId xmlns:a16="http://schemas.microsoft.com/office/drawing/2014/main" id="{C29776AE-CB9D-F424-3166-B141E3BDA639}"/>
              </a:ext>
            </a:extLst>
          </p:cNvPr>
          <p:cNvSpPr txBox="1"/>
          <p:nvPr/>
        </p:nvSpPr>
        <p:spPr>
          <a:xfrm>
            <a:off x="8434300" y="5183650"/>
            <a:ext cx="2186812" cy="270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−32%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1513827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83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85940BB8-3523-1C7F-07A6-B32C7749389C}"/>
              </a:ext>
            </a:extLst>
          </p:cNvPr>
          <p:cNvSpPr/>
          <p:nvPr/>
        </p:nvSpPr>
        <p:spPr>
          <a:xfrm>
            <a:off x="0" y="-2785"/>
            <a:ext cx="12192000" cy="1097280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4A55A52A-751B-1A67-3A9D-5BB264AB325D}"/>
              </a:ext>
            </a:extLst>
          </p:cNvPr>
          <p:cNvSpPr txBox="1"/>
          <p:nvPr/>
        </p:nvSpPr>
        <p:spPr>
          <a:xfrm>
            <a:off x="457199" y="27430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3200" dirty="0">
              <a:solidFill>
                <a:srgbClr val="218379"/>
              </a:solidFill>
            </a:endParaRP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11B69782-F64B-7B67-EF46-219343E94B8B}"/>
              </a:ext>
            </a:extLst>
          </p:cNvPr>
          <p:cNvSpPr txBox="1"/>
          <p:nvPr/>
        </p:nvSpPr>
        <p:spPr>
          <a:xfrm>
            <a:off x="457199" y="372671"/>
            <a:ext cx="91738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8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Separating FY27 Pipeline from Actuals and Duplicates</a:t>
            </a:r>
            <a:endParaRPr lang="en-US" sz="3200" dirty="0">
              <a:solidFill>
                <a:srgbClr val="218379"/>
              </a:solidFill>
            </a:endParaRPr>
          </a:p>
        </p:txBody>
      </p:sp>
      <p:graphicFrame>
        <p:nvGraphicFramePr>
          <p:cNvPr id="7" name="Table 0">
            <a:extLst>
              <a:ext uri="{FF2B5EF4-FFF2-40B4-BE49-F238E27FC236}">
                <a16:creationId xmlns:a16="http://schemas.microsoft.com/office/drawing/2014/main" id="{374009D5-A0D1-9998-52F8-ED1D160270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5624041"/>
              </p:ext>
            </p:extLst>
          </p:nvPr>
        </p:nvGraphicFramePr>
        <p:xfrm>
          <a:off x="743527" y="1523984"/>
          <a:ext cx="10672618" cy="4664376"/>
        </p:xfrm>
        <a:graphic>
          <a:graphicData uri="http://schemas.openxmlformats.org/drawingml/2006/table">
            <a:tbl>
              <a:tblPr/>
              <a:tblGrid>
                <a:gridCol w="59292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16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16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82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Amount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Adjustment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2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as submitted by four divisions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$635,968,267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2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Less: duplicate submissions removed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($6,379,506)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2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after cleaning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$629,588,762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2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Less: FY24 and FY25 actuals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($309,318,943)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2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Less: FY26 actuals to date (Jan–Jun)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($72,438,675)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82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Less: FY27 records labelled YTD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($4,000,000)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82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Forward pipeline, FY26 and FY27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$243,831,144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82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 which FY27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$162,674,619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33946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837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75B6F8-47A7-B5E5-CC03-340136C214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500E0EE-F181-CA7F-E87E-964D09FDEDDB}"/>
              </a:ext>
            </a:extLst>
          </p:cNvPr>
          <p:cNvSpPr/>
          <p:nvPr/>
        </p:nvSpPr>
        <p:spPr>
          <a:xfrm>
            <a:off x="6448888" y="1623995"/>
            <a:ext cx="5412509" cy="4211781"/>
          </a:xfrm>
          <a:prstGeom prst="rect">
            <a:avLst/>
          </a:prstGeom>
          <a:solidFill>
            <a:srgbClr val="218379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D1F2E75-F8E4-FFDF-7584-3B6B530661A8}"/>
              </a:ext>
            </a:extLst>
          </p:cNvPr>
          <p:cNvSpPr/>
          <p:nvPr/>
        </p:nvSpPr>
        <p:spPr>
          <a:xfrm>
            <a:off x="330605" y="1607128"/>
            <a:ext cx="5412509" cy="4211781"/>
          </a:xfrm>
          <a:prstGeom prst="rect">
            <a:avLst/>
          </a:prstGeom>
          <a:solidFill>
            <a:srgbClr val="218379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C0A81FB9-AB2D-274F-C02E-A33909471BA8}"/>
              </a:ext>
            </a:extLst>
          </p:cNvPr>
          <p:cNvSpPr/>
          <p:nvPr/>
        </p:nvSpPr>
        <p:spPr>
          <a:xfrm>
            <a:off x="0" y="9421"/>
            <a:ext cx="12192000" cy="1097280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41300D6C-6D3A-726B-4B05-494084C636EC}"/>
              </a:ext>
            </a:extLst>
          </p:cNvPr>
          <p:cNvSpPr txBox="1"/>
          <p:nvPr/>
        </p:nvSpPr>
        <p:spPr>
          <a:xfrm>
            <a:off x="457199" y="27430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3200" dirty="0">
              <a:solidFill>
                <a:srgbClr val="218379"/>
              </a:solidFill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BC7C076-568A-8EFF-289B-B9966968A9EB}"/>
              </a:ext>
            </a:extLst>
          </p:cNvPr>
          <p:cNvSpPr txBox="1"/>
          <p:nvPr/>
        </p:nvSpPr>
        <p:spPr>
          <a:xfrm>
            <a:off x="350980" y="329461"/>
            <a:ext cx="94026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8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FY27 Pipeline by Stage and Divisions</a:t>
            </a:r>
            <a:endParaRPr lang="en-US" sz="3200" dirty="0">
              <a:solidFill>
                <a:srgbClr val="218379"/>
              </a:solidFill>
            </a:endParaRP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97B8C6BD-2B51-F771-2988-3903F98BE62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44075797"/>
              </p:ext>
            </p:extLst>
          </p:nvPr>
        </p:nvGraphicFramePr>
        <p:xfrm>
          <a:off x="330605" y="1801091"/>
          <a:ext cx="5477164" cy="3759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2A03522B-0F47-FB4A-7BD5-414A55838AE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82399948"/>
              </p:ext>
            </p:extLst>
          </p:nvPr>
        </p:nvGraphicFramePr>
        <p:xfrm>
          <a:off x="6141724" y="1607128"/>
          <a:ext cx="5590464" cy="42117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6830706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9783DA-32EA-8C92-64ED-D24268B6C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8994432B-5309-7AC3-D6BD-58551EC7ED71}"/>
              </a:ext>
            </a:extLst>
          </p:cNvPr>
          <p:cNvSpPr/>
          <p:nvPr/>
        </p:nvSpPr>
        <p:spPr>
          <a:xfrm>
            <a:off x="6858000" y="4095331"/>
            <a:ext cx="4492487" cy="2598408"/>
          </a:xfrm>
          <a:prstGeom prst="rect">
            <a:avLst/>
          </a:prstGeom>
          <a:solidFill>
            <a:schemeClr val="bg1"/>
          </a:solidFill>
          <a:ln>
            <a:solidFill>
              <a:srgbClr val="21837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27EF95F-722A-BC18-65BA-6856B04A8D43}"/>
              </a:ext>
            </a:extLst>
          </p:cNvPr>
          <p:cNvSpPr/>
          <p:nvPr/>
        </p:nvSpPr>
        <p:spPr>
          <a:xfrm>
            <a:off x="6858000" y="1357366"/>
            <a:ext cx="4492487" cy="2598408"/>
          </a:xfrm>
          <a:prstGeom prst="rect">
            <a:avLst/>
          </a:prstGeom>
          <a:solidFill>
            <a:schemeClr val="bg1"/>
          </a:solidFill>
          <a:ln>
            <a:solidFill>
              <a:srgbClr val="21837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C1A254FF-AFEF-563A-DA78-80E052D22ED0}"/>
              </a:ext>
            </a:extLst>
          </p:cNvPr>
          <p:cNvSpPr/>
          <p:nvPr/>
        </p:nvSpPr>
        <p:spPr>
          <a:xfrm>
            <a:off x="-9239" y="-9051"/>
            <a:ext cx="12256655" cy="1203094"/>
          </a:xfrm>
          <a:prstGeom prst="rect">
            <a:avLst/>
          </a:prstGeom>
          <a:solidFill>
            <a:srgbClr val="2183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27556763-AA4B-69A1-45C5-660D968CD477}"/>
              </a:ext>
            </a:extLst>
          </p:cNvPr>
          <p:cNvSpPr txBox="1"/>
          <p:nvPr/>
        </p:nvSpPr>
        <p:spPr>
          <a:xfrm>
            <a:off x="411017" y="36389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</a:rPr>
              <a:t>Key Risks in the FY27 Pipeline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38B69C4-FA52-8C3F-AFC5-797D7F71836F}"/>
              </a:ext>
            </a:extLst>
          </p:cNvPr>
          <p:cNvGrpSpPr/>
          <p:nvPr/>
        </p:nvGrpSpPr>
        <p:grpSpPr>
          <a:xfrm>
            <a:off x="745436" y="1566990"/>
            <a:ext cx="5516218" cy="4969054"/>
            <a:chOff x="4389120" y="1005840"/>
            <a:chExt cx="4480560" cy="2926080"/>
          </a:xfrm>
        </p:grpSpPr>
        <p:sp>
          <p:nvSpPr>
            <p:cNvPr id="8" name="Shape 2">
              <a:extLst>
                <a:ext uri="{FF2B5EF4-FFF2-40B4-BE49-F238E27FC236}">
                  <a16:creationId xmlns:a16="http://schemas.microsoft.com/office/drawing/2014/main" id="{31E62862-7647-D433-0182-896EA552AF6D}"/>
                </a:ext>
              </a:extLst>
            </p:cNvPr>
            <p:cNvSpPr/>
            <p:nvPr/>
          </p:nvSpPr>
          <p:spPr>
            <a:xfrm>
              <a:off x="4389120" y="1005840"/>
              <a:ext cx="4480560" cy="548640"/>
            </a:xfrm>
            <a:prstGeom prst="rect">
              <a:avLst/>
            </a:prstGeom>
            <a:solidFill>
              <a:srgbClr val="218379"/>
            </a:solidFill>
            <a:ln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9" name="Text 3">
              <a:extLst>
                <a:ext uri="{FF2B5EF4-FFF2-40B4-BE49-F238E27FC236}">
                  <a16:creationId xmlns:a16="http://schemas.microsoft.com/office/drawing/2014/main" id="{EA0411DB-0F55-EA64-83FD-74167D5A86F6}"/>
                </a:ext>
              </a:extLst>
            </p:cNvPr>
            <p:cNvSpPr txBox="1"/>
            <p:nvPr/>
          </p:nvSpPr>
          <p:spPr>
            <a:xfrm>
              <a:off x="4480560" y="1024128"/>
              <a:ext cx="429768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Division 3</a:t>
              </a:r>
              <a:endParaRPr lang="en-US" sz="1400" dirty="0">
                <a:solidFill>
                  <a:schemeClr val="bg1"/>
                </a:solidFill>
              </a:endParaRPr>
            </a:p>
          </p:txBody>
        </p:sp>
        <p:sp>
          <p:nvSpPr>
            <p:cNvPr id="10" name="Text 4">
              <a:extLst>
                <a:ext uri="{FF2B5EF4-FFF2-40B4-BE49-F238E27FC236}">
                  <a16:creationId xmlns:a16="http://schemas.microsoft.com/office/drawing/2014/main" id="{1A2C193A-CC6E-5DB6-9824-B98A88BD59E0}"/>
                </a:ext>
              </a:extLst>
            </p:cNvPr>
            <p:cNvSpPr txBox="1"/>
            <p:nvPr/>
          </p:nvSpPr>
          <p:spPr>
            <a:xfrm>
              <a:off x="4480560" y="1207008"/>
              <a:ext cx="42976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$92.6M, 57% of FY27. Plan accuracy depends on one division.</a:t>
              </a:r>
              <a:endParaRPr lang="en-US" sz="1050" dirty="0">
                <a:solidFill>
                  <a:schemeClr val="bg1"/>
                </a:solidFill>
              </a:endParaRPr>
            </a:p>
          </p:txBody>
        </p:sp>
        <p:sp>
          <p:nvSpPr>
            <p:cNvPr id="11" name="Shape 5">
              <a:extLst>
                <a:ext uri="{FF2B5EF4-FFF2-40B4-BE49-F238E27FC236}">
                  <a16:creationId xmlns:a16="http://schemas.microsoft.com/office/drawing/2014/main" id="{68D69C34-925F-7E96-1300-D9671595FB37}"/>
                </a:ext>
              </a:extLst>
            </p:cNvPr>
            <p:cNvSpPr/>
            <p:nvPr/>
          </p:nvSpPr>
          <p:spPr>
            <a:xfrm>
              <a:off x="4389120" y="1600200"/>
              <a:ext cx="4480560" cy="54864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2" name="Text 6">
              <a:extLst>
                <a:ext uri="{FF2B5EF4-FFF2-40B4-BE49-F238E27FC236}">
                  <a16:creationId xmlns:a16="http://schemas.microsoft.com/office/drawing/2014/main" id="{0385F3DD-19DE-55F4-E62C-3D2DB791A9F6}"/>
                </a:ext>
              </a:extLst>
            </p:cNvPr>
            <p:cNvSpPr txBox="1"/>
            <p:nvPr/>
          </p:nvSpPr>
          <p:spPr>
            <a:xfrm>
              <a:off x="4480560" y="1618488"/>
              <a:ext cx="429768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21837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Division 4</a:t>
              </a:r>
              <a:endParaRPr lang="en-US" sz="1400" dirty="0">
                <a:solidFill>
                  <a:srgbClr val="218379"/>
                </a:solidFill>
              </a:endParaRPr>
            </a:p>
          </p:txBody>
        </p:sp>
        <p:sp>
          <p:nvSpPr>
            <p:cNvPr id="13" name="Text 7">
              <a:extLst>
                <a:ext uri="{FF2B5EF4-FFF2-40B4-BE49-F238E27FC236}">
                  <a16:creationId xmlns:a16="http://schemas.microsoft.com/office/drawing/2014/main" id="{4BC03F97-E1EA-AB84-C1ED-A1C4632D90C1}"/>
                </a:ext>
              </a:extLst>
            </p:cNvPr>
            <p:cNvSpPr txBox="1"/>
            <p:nvPr/>
          </p:nvSpPr>
          <p:spPr>
            <a:xfrm>
              <a:off x="4480560" y="1801368"/>
              <a:ext cx="42976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21837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$31,100 vs $13.7M FY26 Pipeline. 92 missing project IDs. Likely incomplete.</a:t>
              </a:r>
              <a:endParaRPr lang="en-US" sz="1050" dirty="0">
                <a:solidFill>
                  <a:srgbClr val="218379"/>
                </a:solidFill>
              </a:endParaRPr>
            </a:p>
          </p:txBody>
        </p:sp>
        <p:sp>
          <p:nvSpPr>
            <p:cNvPr id="14" name="Shape 8">
              <a:extLst>
                <a:ext uri="{FF2B5EF4-FFF2-40B4-BE49-F238E27FC236}">
                  <a16:creationId xmlns:a16="http://schemas.microsoft.com/office/drawing/2014/main" id="{71787959-6CD0-0947-A838-8C4085A17152}"/>
                </a:ext>
              </a:extLst>
            </p:cNvPr>
            <p:cNvSpPr/>
            <p:nvPr/>
          </p:nvSpPr>
          <p:spPr>
            <a:xfrm>
              <a:off x="4389120" y="2194560"/>
              <a:ext cx="4480560" cy="548640"/>
            </a:xfrm>
            <a:prstGeom prst="rect">
              <a:avLst/>
            </a:prstGeom>
            <a:solidFill>
              <a:srgbClr val="218379"/>
            </a:solidFill>
            <a:ln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5" name="Text 9">
              <a:extLst>
                <a:ext uri="{FF2B5EF4-FFF2-40B4-BE49-F238E27FC236}">
                  <a16:creationId xmlns:a16="http://schemas.microsoft.com/office/drawing/2014/main" id="{89174B22-0CC3-887C-3EDF-492980A9F257}"/>
                </a:ext>
              </a:extLst>
            </p:cNvPr>
            <p:cNvSpPr txBox="1"/>
            <p:nvPr/>
          </p:nvSpPr>
          <p:spPr>
            <a:xfrm>
              <a:off x="4480560" y="2212848"/>
              <a:ext cx="429768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Customer 14 / Proj 47</a:t>
              </a:r>
              <a:endParaRPr lang="en-US" sz="1400" dirty="0">
                <a:solidFill>
                  <a:schemeClr val="bg1"/>
                </a:solidFill>
              </a:endParaRPr>
            </a:p>
          </p:txBody>
        </p:sp>
        <p:sp>
          <p:nvSpPr>
            <p:cNvPr id="16" name="Text 10">
              <a:extLst>
                <a:ext uri="{FF2B5EF4-FFF2-40B4-BE49-F238E27FC236}">
                  <a16:creationId xmlns:a16="http://schemas.microsoft.com/office/drawing/2014/main" id="{8BEA9AF5-5C4A-7D7B-593E-C454DFA33F3E}"/>
                </a:ext>
              </a:extLst>
            </p:cNvPr>
            <p:cNvSpPr txBox="1"/>
            <p:nvPr/>
          </p:nvSpPr>
          <p:spPr>
            <a:xfrm>
              <a:off x="4480560" y="2395728"/>
              <a:ext cx="42976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$33.8M (21% of FY27)</a:t>
              </a:r>
              <a:endParaRPr lang="en-US" sz="1050" dirty="0">
                <a:solidFill>
                  <a:schemeClr val="bg1"/>
                </a:solidFill>
              </a:endParaRPr>
            </a:p>
          </p:txBody>
        </p:sp>
        <p:sp>
          <p:nvSpPr>
            <p:cNvPr id="17" name="Shape 11">
              <a:extLst>
                <a:ext uri="{FF2B5EF4-FFF2-40B4-BE49-F238E27FC236}">
                  <a16:creationId xmlns:a16="http://schemas.microsoft.com/office/drawing/2014/main" id="{7446B056-296A-D3E0-ABCF-E990C0CB8A8B}"/>
                </a:ext>
              </a:extLst>
            </p:cNvPr>
            <p:cNvSpPr/>
            <p:nvPr/>
          </p:nvSpPr>
          <p:spPr>
            <a:xfrm>
              <a:off x="4389120" y="2788920"/>
              <a:ext cx="4480560" cy="54864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8" name="Text 12">
              <a:extLst>
                <a:ext uri="{FF2B5EF4-FFF2-40B4-BE49-F238E27FC236}">
                  <a16:creationId xmlns:a16="http://schemas.microsoft.com/office/drawing/2014/main" id="{B82EF0C9-DA44-5213-0CFC-3E70C355633A}"/>
                </a:ext>
              </a:extLst>
            </p:cNvPr>
            <p:cNvSpPr txBox="1"/>
            <p:nvPr/>
          </p:nvSpPr>
          <p:spPr>
            <a:xfrm>
              <a:off x="4480560" y="2807208"/>
              <a:ext cx="429768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21837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Top 4 Customers</a:t>
              </a:r>
              <a:endParaRPr lang="en-US" sz="1400" dirty="0">
                <a:solidFill>
                  <a:srgbClr val="218379"/>
                </a:solidFill>
              </a:endParaRPr>
            </a:p>
          </p:txBody>
        </p:sp>
        <p:sp>
          <p:nvSpPr>
            <p:cNvPr id="19" name="Text 13">
              <a:extLst>
                <a:ext uri="{FF2B5EF4-FFF2-40B4-BE49-F238E27FC236}">
                  <a16:creationId xmlns:a16="http://schemas.microsoft.com/office/drawing/2014/main" id="{89FE4050-1516-2979-D6AD-AF13E19BAD58}"/>
                </a:ext>
              </a:extLst>
            </p:cNvPr>
            <p:cNvSpPr txBox="1"/>
            <p:nvPr/>
          </p:nvSpPr>
          <p:spPr>
            <a:xfrm>
              <a:off x="4480560" y="2990088"/>
              <a:ext cx="42976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21837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67% of FY27 pipeline. High single-event risk.</a:t>
              </a:r>
              <a:endParaRPr lang="en-US" sz="1050" dirty="0">
                <a:solidFill>
                  <a:srgbClr val="218379"/>
                </a:solidFill>
              </a:endParaRPr>
            </a:p>
          </p:txBody>
        </p:sp>
        <p:sp>
          <p:nvSpPr>
            <p:cNvPr id="20" name="Shape 14">
              <a:extLst>
                <a:ext uri="{FF2B5EF4-FFF2-40B4-BE49-F238E27FC236}">
                  <a16:creationId xmlns:a16="http://schemas.microsoft.com/office/drawing/2014/main" id="{A15BA342-22FD-EB30-2330-DA1FB2591C11}"/>
                </a:ext>
              </a:extLst>
            </p:cNvPr>
            <p:cNvSpPr/>
            <p:nvPr/>
          </p:nvSpPr>
          <p:spPr>
            <a:xfrm>
              <a:off x="4389120" y="3383280"/>
              <a:ext cx="4480560" cy="548640"/>
            </a:xfrm>
            <a:prstGeom prst="rect">
              <a:avLst/>
            </a:prstGeom>
            <a:solidFill>
              <a:srgbClr val="218379"/>
            </a:solidFill>
            <a:ln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21" name="Text 15">
              <a:extLst>
                <a:ext uri="{FF2B5EF4-FFF2-40B4-BE49-F238E27FC236}">
                  <a16:creationId xmlns:a16="http://schemas.microsoft.com/office/drawing/2014/main" id="{8302E215-D1F8-C888-4FC7-0090DF3BC58C}"/>
                </a:ext>
              </a:extLst>
            </p:cNvPr>
            <p:cNvSpPr txBox="1"/>
            <p:nvPr/>
          </p:nvSpPr>
          <p:spPr>
            <a:xfrm>
              <a:off x="4480560" y="3401568"/>
              <a:ext cx="429768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Customer 2</a:t>
              </a:r>
              <a:endParaRPr lang="en-US" sz="1400" dirty="0">
                <a:solidFill>
                  <a:schemeClr val="bg1"/>
                </a:solidFill>
              </a:endParaRPr>
            </a:p>
          </p:txBody>
        </p:sp>
        <p:sp>
          <p:nvSpPr>
            <p:cNvPr id="22" name="Text 16">
              <a:extLst>
                <a:ext uri="{FF2B5EF4-FFF2-40B4-BE49-F238E27FC236}">
                  <a16:creationId xmlns:a16="http://schemas.microsoft.com/office/drawing/2014/main" id="{FB384CE3-429A-1D24-C8CA-168A3BCA36A4}"/>
                </a:ext>
              </a:extLst>
            </p:cNvPr>
            <p:cNvSpPr txBox="1"/>
            <p:nvPr/>
          </p:nvSpPr>
          <p:spPr>
            <a:xfrm>
              <a:off x="4480560" y="3584448"/>
              <a:ext cx="42976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Declining: 42% of FY24 → 30% FY25 → 13% FY27 pipeline.</a:t>
              </a:r>
              <a:endParaRPr lang="en-US" sz="1050" dirty="0">
                <a:solidFill>
                  <a:schemeClr val="bg1"/>
                </a:solidFill>
              </a:endParaRPr>
            </a:p>
          </p:txBody>
        </p:sp>
      </p:grp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B77331C5-CEEA-912C-0BAE-DAA1D70BDB9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18196263"/>
              </p:ext>
            </p:extLst>
          </p:nvPr>
        </p:nvGraphicFramePr>
        <p:xfrm>
          <a:off x="7046843" y="4100566"/>
          <a:ext cx="4088296" cy="24354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AAE02C94-4236-8A5F-7C14-1CC44FCB007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85444591"/>
              </p:ext>
            </p:extLst>
          </p:nvPr>
        </p:nvGraphicFramePr>
        <p:xfrm>
          <a:off x="6477002" y="1357366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3549003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837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94B5A9-B213-04E1-670D-E7B3419E8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C4370B93-878D-6EB3-439C-15688D92B1A1}"/>
              </a:ext>
            </a:extLst>
          </p:cNvPr>
          <p:cNvSpPr/>
          <p:nvPr/>
        </p:nvSpPr>
        <p:spPr>
          <a:xfrm>
            <a:off x="0" y="-2785"/>
            <a:ext cx="12192000" cy="1097280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900A6BB0-F039-F53E-CE62-A1091B708C3D}"/>
              </a:ext>
            </a:extLst>
          </p:cNvPr>
          <p:cNvSpPr txBox="1"/>
          <p:nvPr/>
        </p:nvSpPr>
        <p:spPr>
          <a:xfrm>
            <a:off x="457199" y="27430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3200" dirty="0">
              <a:solidFill>
                <a:srgbClr val="218379"/>
              </a:solidFill>
            </a:endParaRP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F816AA02-741E-CD27-8652-CC9B992C3197}"/>
              </a:ext>
            </a:extLst>
          </p:cNvPr>
          <p:cNvSpPr txBox="1"/>
          <p:nvPr/>
        </p:nvSpPr>
        <p:spPr>
          <a:xfrm>
            <a:off x="457199" y="372671"/>
            <a:ext cx="91738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8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Weights and Planning Assumptions</a:t>
            </a:r>
            <a:endParaRPr lang="en-US" sz="3200" dirty="0">
              <a:solidFill>
                <a:srgbClr val="218379"/>
              </a:solidFill>
            </a:endParaRPr>
          </a:p>
        </p:txBody>
      </p:sp>
      <p:graphicFrame>
        <p:nvGraphicFramePr>
          <p:cNvPr id="3" name="Table 0">
            <a:extLst>
              <a:ext uri="{FF2B5EF4-FFF2-40B4-BE49-F238E27FC236}">
                <a16:creationId xmlns:a16="http://schemas.microsoft.com/office/drawing/2014/main" id="{07A08AC4-7C7D-335F-EB15-D2C08BAC21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6575050"/>
              </p:ext>
            </p:extLst>
          </p:nvPr>
        </p:nvGraphicFramePr>
        <p:xfrm>
          <a:off x="7215809" y="1632298"/>
          <a:ext cx="4784034" cy="3764648"/>
        </p:xfrm>
        <a:graphic>
          <a:graphicData uri="http://schemas.openxmlformats.org/drawingml/2006/table">
            <a:tbl>
              <a:tblPr/>
              <a:tblGrid>
                <a:gridCol w="16744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64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72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6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058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charset="0"/>
                          <a:cs typeface="Calibri" pitchFamily="34" charset="-120"/>
                        </a:rPr>
                        <a:t>(Base)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58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$11.5M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$11.0M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58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Contracted Backlog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$0.7M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$0.5M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58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Forecasted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$38.3M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$26.8M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58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Contracted Pipeline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$49.5M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$24.7M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58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Go-Get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$28.9M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$5.8M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58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Contracted (Unclassified)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$33.8M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$23.7M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058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Plan</a:t>
                      </a:r>
                      <a:endParaRPr lang="en-US" sz="10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$162.7M</a:t>
                      </a:r>
                      <a:endParaRPr lang="en-US" sz="10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$92.5M</a:t>
                      </a:r>
                      <a:endParaRPr lang="en-US" sz="10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9" name="Table 0">
            <a:extLst>
              <a:ext uri="{FF2B5EF4-FFF2-40B4-BE49-F238E27FC236}">
                <a16:creationId xmlns:a16="http://schemas.microsoft.com/office/drawing/2014/main" id="{538E0DA7-09A6-8A05-D3A7-6CADFFA3CB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9996245"/>
              </p:ext>
            </p:extLst>
          </p:nvPr>
        </p:nvGraphicFramePr>
        <p:xfrm>
          <a:off x="311427" y="1634580"/>
          <a:ext cx="6467062" cy="3764647"/>
        </p:xfrm>
        <a:graphic>
          <a:graphicData uri="http://schemas.openxmlformats.org/drawingml/2006/table">
            <a:tbl>
              <a:tblPr/>
              <a:tblGrid>
                <a:gridCol w="12934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14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45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60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3866">
                  <a:extLst>
                    <a:ext uri="{9D8B030D-6E8A-4147-A177-3AD203B41FA5}">
                      <a16:colId xmlns:a16="http://schemas.microsoft.com/office/drawing/2014/main" val="1337604027"/>
                    </a:ext>
                  </a:extLst>
                </a:gridCol>
                <a:gridCol w="923866">
                  <a:extLst>
                    <a:ext uri="{9D8B030D-6E8A-4147-A177-3AD203B41FA5}">
                      <a16:colId xmlns:a16="http://schemas.microsoft.com/office/drawing/2014/main" val="857238000"/>
                    </a:ext>
                  </a:extLst>
                </a:gridCol>
                <a:gridCol w="923866">
                  <a:extLst>
                    <a:ext uri="{9D8B030D-6E8A-4147-A177-3AD203B41FA5}">
                      <a16:colId xmlns:a16="http://schemas.microsoft.com/office/drawing/2014/main" val="3242553026"/>
                    </a:ext>
                  </a:extLst>
                </a:gridCol>
              </a:tblGrid>
              <a:tr h="74880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charset="0"/>
                          <a:cs typeface="Calibri" pitchFamily="34" charset="-120"/>
                        </a:rPr>
                        <a:t>Stage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charset="0"/>
                          <a:cs typeface="Calibri" pitchFamily="34" charset="-120"/>
                        </a:rPr>
                        <a:t>PO/SOW issued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 certain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charset="0"/>
                          <a:cs typeface="Calibri" pitchFamily="34" charset="-120"/>
                        </a:rPr>
                        <a:t>Timing certain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1000" b="1" kern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charset="0"/>
                          <a:cs typeface="Calibri" pitchFamily="34" charset="-120"/>
                        </a:rPr>
                        <a:t>Base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1000" b="1" kern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charset="0"/>
                          <a:cs typeface="Calibri" pitchFamily="34" charset="-120"/>
                        </a:rPr>
                        <a:t>Conservative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1000" b="1" kern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charset="0"/>
                          <a:cs typeface="Calibri" pitchFamily="34" charset="-120"/>
                        </a:rPr>
                        <a:t>Upside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64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latin typeface="Calibri" charset="0"/>
                          <a:ea typeface="Calibri" charset="0"/>
                          <a:cs typeface="Calibri" charset="0"/>
                        </a:rPr>
                        <a:t>Yes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latin typeface="Calibri" charset="0"/>
                          <a:ea typeface="Calibri" charset="0"/>
                          <a:cs typeface="Calibri" charset="0"/>
                        </a:rPr>
                        <a:t>Yes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latin typeface="Calibri" charset="0"/>
                          <a:ea typeface="Calibri" charset="0"/>
                          <a:cs typeface="Calibri" charset="0"/>
                        </a:rPr>
                        <a:t>Yes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latin typeface="Calibri" charset="0"/>
                          <a:ea typeface="Calibri" charset="0"/>
                          <a:cs typeface="Calibri" charset="0"/>
                        </a:rPr>
                        <a:t>95%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latin typeface="Calibri" charset="0"/>
                          <a:ea typeface="Calibri" charset="0"/>
                          <a:cs typeface="Calibri" charset="0"/>
                        </a:rPr>
                        <a:t>90%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latin typeface="Calibri" charset="0"/>
                          <a:ea typeface="Calibri" charset="0"/>
                          <a:cs typeface="Calibri" charset="0"/>
                        </a:rPr>
                        <a:t>100%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64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Contracted Backlog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latin typeface="Calibri" charset="0"/>
                          <a:ea typeface="Calibri" charset="0"/>
                          <a:cs typeface="Calibri" charset="0"/>
                        </a:rPr>
                        <a:t>Yes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latin typeface="Calibri" charset="0"/>
                          <a:ea typeface="Calibri" charset="0"/>
                          <a:cs typeface="Calibri" charset="0"/>
                        </a:rPr>
                        <a:t>No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latin typeface="Calibri" charset="0"/>
                          <a:ea typeface="Calibri" charset="0"/>
                          <a:cs typeface="Calibri" charset="0"/>
                        </a:rPr>
                        <a:t>No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latin typeface="Calibri" charset="0"/>
                          <a:ea typeface="Calibri" charset="0"/>
                          <a:cs typeface="Calibri" charset="0"/>
                        </a:rPr>
                        <a:t>80%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latin typeface="Calibri" charset="0"/>
                          <a:ea typeface="Calibri" charset="0"/>
                          <a:cs typeface="Calibri" charset="0"/>
                        </a:rPr>
                        <a:t>70%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latin typeface="Calibri" charset="0"/>
                          <a:ea typeface="Calibri" charset="0"/>
                          <a:cs typeface="Calibri" charset="0"/>
                        </a:rPr>
                        <a:t>90%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64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Forecasted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latin typeface="Calibri" charset="0"/>
                          <a:ea typeface="Calibri" charset="0"/>
                          <a:cs typeface="Calibri" charset="0"/>
                        </a:rPr>
                        <a:t>No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latin typeface="Calibri" charset="0"/>
                          <a:ea typeface="Calibri" charset="0"/>
                          <a:cs typeface="Calibri" charset="0"/>
                        </a:rPr>
                        <a:t>High Confidence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Calibri" charset="0"/>
                          <a:ea typeface="Calibri" charset="0"/>
                          <a:cs typeface="Calibri" charset="0"/>
                        </a:rPr>
                        <a:t>High Confidence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latin typeface="Calibri" charset="0"/>
                          <a:ea typeface="Calibri" charset="0"/>
                          <a:cs typeface="Calibri" charset="0"/>
                        </a:rPr>
                        <a:t>70%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latin typeface="Calibri" charset="0"/>
                          <a:ea typeface="Calibri" charset="0"/>
                          <a:cs typeface="Calibri" charset="0"/>
                        </a:rPr>
                        <a:t>55%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latin typeface="Calibri" charset="0"/>
                          <a:ea typeface="Calibri" charset="0"/>
                          <a:cs typeface="Calibri" charset="0"/>
                        </a:rPr>
                        <a:t>85%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64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Contracted Pipeline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latin typeface="Calibri" charset="0"/>
                          <a:ea typeface="Calibri" charset="0"/>
                          <a:cs typeface="Calibri" charset="0"/>
                        </a:rPr>
                        <a:t>No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latin typeface="Calibri" charset="0"/>
                          <a:ea typeface="Calibri" charset="0"/>
                          <a:cs typeface="Calibri" charset="0"/>
                        </a:rPr>
                        <a:t>No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latin typeface="Calibri" charset="0"/>
                          <a:ea typeface="Calibri" charset="0"/>
                          <a:cs typeface="Calibri" charset="0"/>
                        </a:rPr>
                        <a:t>No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latin typeface="Calibri" charset="0"/>
                          <a:ea typeface="Calibri" charset="0"/>
                          <a:cs typeface="Calibri" charset="0"/>
                        </a:rPr>
                        <a:t>50%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latin typeface="Calibri" charset="0"/>
                          <a:ea typeface="Calibri" charset="0"/>
                          <a:cs typeface="Calibri" charset="0"/>
                        </a:rPr>
                        <a:t>35%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latin typeface="Calibri" charset="0"/>
                          <a:ea typeface="Calibri" charset="0"/>
                          <a:cs typeface="Calibri" charset="0"/>
                        </a:rPr>
                        <a:t>65%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64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Go-Get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latin typeface="Calibri" charset="0"/>
                          <a:ea typeface="Calibri" charset="0"/>
                          <a:cs typeface="Calibri" charset="0"/>
                        </a:rPr>
                        <a:t>No 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latin typeface="Calibri" charset="0"/>
                          <a:ea typeface="Calibri" charset="0"/>
                          <a:cs typeface="Calibri" charset="0"/>
                        </a:rPr>
                        <a:t>No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latin typeface="Calibri" charset="0"/>
                          <a:ea typeface="Calibri" charset="0"/>
                          <a:cs typeface="Calibri" charset="0"/>
                        </a:rPr>
                        <a:t>No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latin typeface="Calibri" charset="0"/>
                          <a:ea typeface="Calibri" charset="0"/>
                          <a:cs typeface="Calibri" charset="0"/>
                        </a:rPr>
                        <a:t>20%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latin typeface="Calibri" charset="0"/>
                          <a:ea typeface="Calibri" charset="0"/>
                          <a:cs typeface="Calibri" charset="0"/>
                        </a:rPr>
                        <a:t>10%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latin typeface="Calibri" charset="0"/>
                          <a:ea typeface="Calibri" charset="0"/>
                          <a:cs typeface="Calibri" charset="0"/>
                        </a:rPr>
                        <a:t>30%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64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Contracted (Unclassified)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latin typeface="Calibri" charset="0"/>
                          <a:ea typeface="Calibri" charset="0"/>
                          <a:cs typeface="Calibri" charset="0"/>
                        </a:rPr>
                        <a:t>Not Stated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latin typeface="Calibri" charset="0"/>
                          <a:ea typeface="Calibri" charset="0"/>
                          <a:cs typeface="Calibri" charset="0"/>
                        </a:rPr>
                        <a:t>Not stated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latin typeface="Calibri" charset="0"/>
                          <a:ea typeface="Calibri" charset="0"/>
                          <a:cs typeface="Calibri" charset="0"/>
                        </a:rPr>
                        <a:t>Not stated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latin typeface="Calibri" charset="0"/>
                          <a:ea typeface="Calibri" charset="0"/>
                          <a:cs typeface="Calibri" charset="0"/>
                        </a:rPr>
                        <a:t>70%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latin typeface="Calibri" charset="0"/>
                          <a:ea typeface="Calibri" charset="0"/>
                          <a:cs typeface="Calibri" charset="0"/>
                        </a:rPr>
                        <a:t>55%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latin typeface="Calibri" charset="0"/>
                          <a:ea typeface="Calibri" charset="0"/>
                          <a:cs typeface="Calibri" charset="0"/>
                        </a:rPr>
                        <a:t>85%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5332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837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7EC8F2-5D0B-EFEA-1913-B3E5C8510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31237731-F261-B117-1DAD-0398EE3109F1}"/>
              </a:ext>
            </a:extLst>
          </p:cNvPr>
          <p:cNvSpPr/>
          <p:nvPr/>
        </p:nvSpPr>
        <p:spPr>
          <a:xfrm>
            <a:off x="0" y="9421"/>
            <a:ext cx="12192000" cy="1097280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12948568-3803-566A-4D61-C226F7039E49}"/>
              </a:ext>
            </a:extLst>
          </p:cNvPr>
          <p:cNvSpPr txBox="1"/>
          <p:nvPr/>
        </p:nvSpPr>
        <p:spPr>
          <a:xfrm>
            <a:off x="457199" y="27430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3200" dirty="0">
              <a:solidFill>
                <a:srgbClr val="218379"/>
              </a:solidFill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A7DC54E-E363-DC8B-6916-45566D911355}"/>
              </a:ext>
            </a:extLst>
          </p:cNvPr>
          <p:cNvSpPr txBox="1"/>
          <p:nvPr/>
        </p:nvSpPr>
        <p:spPr>
          <a:xfrm>
            <a:off x="350980" y="329461"/>
            <a:ext cx="94026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8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Assessment</a:t>
            </a:r>
            <a:endParaRPr lang="en-US" sz="3200" dirty="0">
              <a:solidFill>
                <a:srgbClr val="218379"/>
              </a:solidFill>
            </a:endParaRPr>
          </a:p>
        </p:txBody>
      </p:sp>
      <p:graphicFrame>
        <p:nvGraphicFramePr>
          <p:cNvPr id="7" name="Table 0">
            <a:extLst>
              <a:ext uri="{FF2B5EF4-FFF2-40B4-BE49-F238E27FC236}">
                <a16:creationId xmlns:a16="http://schemas.microsoft.com/office/drawing/2014/main" id="{89988A46-2228-AD43-9AF6-EB45F8E106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3027719"/>
              </p:ext>
            </p:extLst>
          </p:nvPr>
        </p:nvGraphicFramePr>
        <p:xfrm>
          <a:off x="762001" y="1426741"/>
          <a:ext cx="10419522" cy="4506922"/>
        </p:xfrm>
        <a:graphic>
          <a:graphicData uri="http://schemas.openxmlformats.org/drawingml/2006/table">
            <a:tbl>
              <a:tblPr/>
              <a:tblGrid>
                <a:gridCol w="24231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92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15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173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981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438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Treatment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missed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38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 submissions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$6.4M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FY26 pipeline overstated by $6.4M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38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project identifiers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$ change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Flagged, retained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validation impossible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38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FY27 records labelled YTD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$4.0M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Excluded from base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Double-counted as actuals + pipeline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38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Quarter-month mismatches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$1.4M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Quarterly totals misallocated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38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Negative YTD amounts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$1.3M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Retained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Actuals overstated by $1.3M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38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Unknown segment values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$ change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Labelled Unknown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 analysis skewed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62337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837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719176-B673-B50A-713D-60CE869A3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3100AE5B-7D36-4F21-BC0A-30DD95682D36}"/>
              </a:ext>
            </a:extLst>
          </p:cNvPr>
          <p:cNvSpPr/>
          <p:nvPr/>
        </p:nvSpPr>
        <p:spPr>
          <a:xfrm>
            <a:off x="0" y="9421"/>
            <a:ext cx="12192000" cy="1097280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252574E7-DB32-2E08-249C-5D84601A3003}"/>
              </a:ext>
            </a:extLst>
          </p:cNvPr>
          <p:cNvSpPr txBox="1"/>
          <p:nvPr/>
        </p:nvSpPr>
        <p:spPr>
          <a:xfrm>
            <a:off x="457199" y="27430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3200" dirty="0">
              <a:solidFill>
                <a:srgbClr val="218379"/>
              </a:solidFill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80220F1-29A4-2438-4B7E-21056D048D76}"/>
              </a:ext>
            </a:extLst>
          </p:cNvPr>
          <p:cNvSpPr txBox="1"/>
          <p:nvPr/>
        </p:nvSpPr>
        <p:spPr>
          <a:xfrm>
            <a:off x="350980" y="329461"/>
            <a:ext cx="11240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8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Data Can Answer, What It cannot, and What to Build</a:t>
            </a:r>
            <a:endParaRPr lang="en-US" sz="3200" dirty="0">
              <a:solidFill>
                <a:srgbClr val="218379"/>
              </a:solidFill>
            </a:endParaRPr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8FF8F4DF-4B23-9451-89B2-E655E54F3C86}"/>
              </a:ext>
            </a:extLst>
          </p:cNvPr>
          <p:cNvSpPr txBox="1"/>
          <p:nvPr/>
        </p:nvSpPr>
        <p:spPr>
          <a:xfrm>
            <a:off x="544022" y="143459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can/cannot convey </a:t>
            </a:r>
            <a:endParaRPr lang="en-US" sz="1300" dirty="0">
              <a:solidFill>
                <a:schemeClr val="bg1"/>
              </a:solidFill>
            </a:endParaRPr>
          </a:p>
        </p:txBody>
      </p:sp>
      <p:graphicFrame>
        <p:nvGraphicFramePr>
          <p:cNvPr id="10" name="Table 0">
            <a:extLst>
              <a:ext uri="{FF2B5EF4-FFF2-40B4-BE49-F238E27FC236}">
                <a16:creationId xmlns:a16="http://schemas.microsoft.com/office/drawing/2014/main" id="{D6292CA1-DC96-0DD1-9FB1-51744618C5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8897643"/>
              </p:ext>
            </p:extLst>
          </p:nvPr>
        </p:nvGraphicFramePr>
        <p:xfrm>
          <a:off x="457198" y="1842654"/>
          <a:ext cx="4576619" cy="1836960"/>
        </p:xfrm>
        <a:graphic>
          <a:graphicData uri="http://schemas.openxmlformats.org/drawingml/2006/table">
            <a:tbl>
              <a:tblPr/>
              <a:tblGrid>
                <a:gridCol w="27857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08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61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we answer it?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1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much FY27 pipeline by stage?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1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concentrated is it?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1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is the conversion rate by stage?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( needs periodic snapshots)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1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long do deals sit in each stage?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(no date fields)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61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revenue trending up or down?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E67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Barely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Text 3">
            <a:extLst>
              <a:ext uri="{FF2B5EF4-FFF2-40B4-BE49-F238E27FC236}">
                <a16:creationId xmlns:a16="http://schemas.microsoft.com/office/drawing/2014/main" id="{8332F5DC-9AE0-781B-F62D-4834CD886350}"/>
              </a:ext>
            </a:extLst>
          </p:cNvPr>
          <p:cNvSpPr txBox="1"/>
          <p:nvPr/>
        </p:nvSpPr>
        <p:spPr>
          <a:xfrm>
            <a:off x="7323051" y="1443367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KPIs</a:t>
            </a:r>
            <a:endParaRPr lang="en-US" sz="1300" dirty="0">
              <a:solidFill>
                <a:schemeClr val="bg1"/>
              </a:solidFill>
            </a:endParaRPr>
          </a:p>
        </p:txBody>
      </p:sp>
      <p:graphicFrame>
        <p:nvGraphicFramePr>
          <p:cNvPr id="12" name="Table 1">
            <a:extLst>
              <a:ext uri="{FF2B5EF4-FFF2-40B4-BE49-F238E27FC236}">
                <a16:creationId xmlns:a16="http://schemas.microsoft.com/office/drawing/2014/main" id="{3E65EC9A-04C0-FF1B-BC5C-25A7B42F08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1182075"/>
              </p:ext>
            </p:extLst>
          </p:nvPr>
        </p:nvGraphicFramePr>
        <p:xfrm>
          <a:off x="6870469" y="1825105"/>
          <a:ext cx="4576619" cy="2054668"/>
        </p:xfrm>
        <a:graphic>
          <a:graphicData uri="http://schemas.openxmlformats.org/drawingml/2006/table">
            <a:tbl>
              <a:tblPr/>
              <a:tblGrid>
                <a:gridCol w="24479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86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840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charset="0"/>
                          <a:cs typeface="Calibri" pitchFamily="34" charset="-120"/>
                        </a:rPr>
                        <a:t>What it measures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40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 coverage ratio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latin typeface="Calibri" charset="0"/>
                          <a:ea typeface="Calibri" charset="0"/>
                          <a:cs typeface="Calibri" charset="0"/>
                        </a:rPr>
                        <a:t>Estimate pipeline vs plan target, monthly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40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latin typeface="Calibri" charset="0"/>
                          <a:ea typeface="Calibri" charset="0"/>
                          <a:cs typeface="Calibri" charset="0"/>
                        </a:rPr>
                        <a:t>Stage conversion and velocity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latin typeface="Calibri" charset="0"/>
                          <a:ea typeface="Calibri" charset="0"/>
                          <a:cs typeface="Calibri" charset="0"/>
                        </a:rPr>
                        <a:t>How fast deals advance and what % convert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122260"/>
                  </a:ext>
                </a:extLst>
              </a:tr>
              <a:tr h="33840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latin typeface="Calibri" charset="0"/>
                          <a:ea typeface="Calibri" charset="0"/>
                          <a:cs typeface="Calibri" charset="0"/>
                        </a:rPr>
                        <a:t>Forecast accuracy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latin typeface="Calibri" charset="0"/>
                          <a:ea typeface="Calibri" charset="0"/>
                          <a:cs typeface="Calibri" charset="0"/>
                        </a:rPr>
                        <a:t>Compare prior weighted estimate to actual revenue delivered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40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Submission completeness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latin typeface="Calibri" charset="0"/>
                          <a:ea typeface="Calibri" charset="0"/>
                          <a:cs typeface="Calibri" charset="0"/>
                        </a:rPr>
                        <a:t>% of records with all required fields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40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charset="0"/>
                          <a:cs typeface="Calibri" pitchFamily="34" charset="-120"/>
                        </a:rPr>
                        <a:t>Concentration risk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latin typeface="Calibri" charset="0"/>
                          <a:ea typeface="Calibri" charset="0"/>
                          <a:cs typeface="Calibri" charset="0"/>
                        </a:rPr>
                        <a:t>Revenue shared of top 5 deals and customers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3" name="Shape 4">
            <a:extLst>
              <a:ext uri="{FF2B5EF4-FFF2-40B4-BE49-F238E27FC236}">
                <a16:creationId xmlns:a16="http://schemas.microsoft.com/office/drawing/2014/main" id="{77D74060-BA8F-B677-AF0E-57EF7D0B4D55}"/>
              </a:ext>
            </a:extLst>
          </p:cNvPr>
          <p:cNvSpPr/>
          <p:nvPr/>
        </p:nvSpPr>
        <p:spPr>
          <a:xfrm>
            <a:off x="1242291" y="4518050"/>
            <a:ext cx="9139382" cy="1861404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FA9C74CF-79A2-2B25-6F57-F95EB77D4748}"/>
              </a:ext>
            </a:extLst>
          </p:cNvPr>
          <p:cNvSpPr txBox="1"/>
          <p:nvPr/>
        </p:nvSpPr>
        <p:spPr>
          <a:xfrm>
            <a:off x="1425171" y="456377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8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close the gaps above, adopt a standardised opportunity-level data model across all Divisions</a:t>
            </a:r>
            <a:endParaRPr lang="en-US" sz="1100" dirty="0">
              <a:solidFill>
                <a:srgbClr val="218379"/>
              </a:solidFill>
            </a:endParaRPr>
          </a:p>
        </p:txBody>
      </p:sp>
      <p:graphicFrame>
        <p:nvGraphicFramePr>
          <p:cNvPr id="15" name="Table 2">
            <a:extLst>
              <a:ext uri="{FF2B5EF4-FFF2-40B4-BE49-F238E27FC236}">
                <a16:creationId xmlns:a16="http://schemas.microsoft.com/office/drawing/2014/main" id="{A1313BF5-46F7-59F7-0FB8-14995CDB9E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667375"/>
              </p:ext>
            </p:extLst>
          </p:nvPr>
        </p:nvGraphicFramePr>
        <p:xfrm>
          <a:off x="1810327" y="4874112"/>
          <a:ext cx="4114800" cy="13716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this field</a:t>
                      </a:r>
                      <a:endParaRPr lang="en-US" sz="9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unlocks</a:t>
                      </a:r>
                      <a:endParaRPr lang="en-US" sz="9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Opportunity 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 deals across snapshots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(controlled list)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Eliminate spelling variants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close quarter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Enable timing / slippage analysis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 entered stage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Enable ageing analysis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Submission date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Enable period-over-period comparison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6" name="Text 6">
            <a:extLst>
              <a:ext uri="{FF2B5EF4-FFF2-40B4-BE49-F238E27FC236}">
                <a16:creationId xmlns:a16="http://schemas.microsoft.com/office/drawing/2014/main" id="{A88D5C75-4FDF-EB14-4832-AA614BF334D7}"/>
              </a:ext>
            </a:extLst>
          </p:cNvPr>
          <p:cNvSpPr txBox="1"/>
          <p:nvPr/>
        </p:nvSpPr>
        <p:spPr>
          <a:xfrm>
            <a:off x="7236690" y="4838090"/>
            <a:ext cx="223520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quarterly snapshots using this model,</a:t>
            </a:r>
            <a:endParaRPr lang="en-US" sz="10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can calculate actual stage-to-close</a:t>
            </a:r>
            <a:endParaRPr lang="en-US" sz="10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rates within 2–3 reporting cycles, replacing</a:t>
            </a:r>
            <a:endParaRPr lang="en-US" sz="10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judgement-based weights with measured</a:t>
            </a:r>
            <a:endParaRPr lang="en-US" sz="10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rates.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74606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837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FB7CAC-A659-34F0-B4A7-349CEE414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55CF8E50-C668-DB95-6D04-1988FEFF14C8}"/>
              </a:ext>
            </a:extLst>
          </p:cNvPr>
          <p:cNvSpPr/>
          <p:nvPr/>
        </p:nvSpPr>
        <p:spPr>
          <a:xfrm>
            <a:off x="0" y="9421"/>
            <a:ext cx="12192000" cy="1097280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51061081-A863-80A8-43D9-1896E5F26186}"/>
              </a:ext>
            </a:extLst>
          </p:cNvPr>
          <p:cNvSpPr txBox="1"/>
          <p:nvPr/>
        </p:nvSpPr>
        <p:spPr>
          <a:xfrm>
            <a:off x="457199" y="27430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3200" dirty="0">
              <a:solidFill>
                <a:srgbClr val="218379"/>
              </a:solidFill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9897965-6529-8B03-6261-F7EFC1E35054}"/>
              </a:ext>
            </a:extLst>
          </p:cNvPr>
          <p:cNvSpPr txBox="1"/>
          <p:nvPr/>
        </p:nvSpPr>
        <p:spPr>
          <a:xfrm>
            <a:off x="350980" y="329461"/>
            <a:ext cx="11240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8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Actions Before Plan Approval</a:t>
            </a:r>
            <a:endParaRPr lang="en-US" sz="3200" dirty="0">
              <a:solidFill>
                <a:srgbClr val="218379"/>
              </a:solidFill>
            </a:endParaRPr>
          </a:p>
        </p:txBody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677794F6-145B-2931-399B-BE92CD871E3A}"/>
              </a:ext>
            </a:extLst>
          </p:cNvPr>
          <p:cNvSpPr/>
          <p:nvPr/>
        </p:nvSpPr>
        <p:spPr>
          <a:xfrm>
            <a:off x="731519" y="1651598"/>
            <a:ext cx="10481425" cy="71577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/>
        </p:spPr>
        <p:txBody>
          <a:bodyPr anchor="ctr"/>
          <a:lstStyle/>
          <a:p>
            <a:pPr algn="ctr"/>
            <a:endParaRPr lang="en-US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50FB77C2-C3B7-A874-53B6-A6BD2B15909F}"/>
              </a:ext>
            </a:extLst>
          </p:cNvPr>
          <p:cNvSpPr txBox="1"/>
          <p:nvPr/>
        </p:nvSpPr>
        <p:spPr>
          <a:xfrm>
            <a:off x="856298" y="1716669"/>
            <a:ext cx="2246020" cy="585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Division 4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CA431ADF-F8BE-2619-D7B5-8166E90F72A4}"/>
              </a:ext>
            </a:extLst>
          </p:cNvPr>
          <p:cNvSpPr txBox="1"/>
          <p:nvPr/>
        </p:nvSpPr>
        <p:spPr>
          <a:xfrm>
            <a:off x="3227096" y="1716669"/>
            <a:ext cx="7736290" cy="585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FY27 resubmission. Current: $31K submitted, 92 missing project IDs.</a:t>
            </a:r>
            <a:endParaRPr lang="en-US" sz="1100" dirty="0"/>
          </a:p>
        </p:txBody>
      </p:sp>
      <p:sp>
        <p:nvSpPr>
          <p:cNvPr id="17" name="Shape 4">
            <a:extLst>
              <a:ext uri="{FF2B5EF4-FFF2-40B4-BE49-F238E27FC236}">
                <a16:creationId xmlns:a16="http://schemas.microsoft.com/office/drawing/2014/main" id="{8387650A-6EE1-2CD9-AB90-7BBD5456121C}"/>
              </a:ext>
            </a:extLst>
          </p:cNvPr>
          <p:cNvSpPr/>
          <p:nvPr/>
        </p:nvSpPr>
        <p:spPr>
          <a:xfrm>
            <a:off x="731519" y="2406416"/>
            <a:ext cx="10481425" cy="71577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/>
        </p:spPr>
        <p:txBody>
          <a:bodyPr anchor="ctr"/>
          <a:lstStyle/>
          <a:p>
            <a:pPr algn="ctr"/>
            <a:endParaRPr lang="en-US"/>
          </a:p>
        </p:txBody>
      </p:sp>
      <p:sp>
        <p:nvSpPr>
          <p:cNvPr id="18" name="Text 5">
            <a:extLst>
              <a:ext uri="{FF2B5EF4-FFF2-40B4-BE49-F238E27FC236}">
                <a16:creationId xmlns:a16="http://schemas.microsoft.com/office/drawing/2014/main" id="{98950625-6B31-CFBA-9410-F99535180D89}"/>
              </a:ext>
            </a:extLst>
          </p:cNvPr>
          <p:cNvSpPr txBox="1"/>
          <p:nvPr/>
        </p:nvSpPr>
        <p:spPr>
          <a:xfrm>
            <a:off x="856298" y="2471486"/>
            <a:ext cx="2246020" cy="585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Divisions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9" name="Text 6">
            <a:extLst>
              <a:ext uri="{FF2B5EF4-FFF2-40B4-BE49-F238E27FC236}">
                <a16:creationId xmlns:a16="http://schemas.microsoft.com/office/drawing/2014/main" id="{B752DCCB-4FCE-A8F2-9684-335A0C0B430C}"/>
              </a:ext>
            </a:extLst>
          </p:cNvPr>
          <p:cNvSpPr txBox="1"/>
          <p:nvPr/>
        </p:nvSpPr>
        <p:spPr>
          <a:xfrm>
            <a:off x="3227096" y="2471486"/>
            <a:ext cx="7736290" cy="585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34 unclassified Contracted records ($33.8M) into the five defined stages.</a:t>
            </a:r>
            <a:endParaRPr lang="en-US" sz="1100" dirty="0"/>
          </a:p>
        </p:txBody>
      </p:sp>
      <p:sp>
        <p:nvSpPr>
          <p:cNvPr id="23" name="Shape 10">
            <a:extLst>
              <a:ext uri="{FF2B5EF4-FFF2-40B4-BE49-F238E27FC236}">
                <a16:creationId xmlns:a16="http://schemas.microsoft.com/office/drawing/2014/main" id="{2A4DD616-18F0-0479-6260-546D5F62D213}"/>
              </a:ext>
            </a:extLst>
          </p:cNvPr>
          <p:cNvSpPr/>
          <p:nvPr/>
        </p:nvSpPr>
        <p:spPr>
          <a:xfrm>
            <a:off x="731519" y="3160679"/>
            <a:ext cx="10481425" cy="71577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/>
        </p:spPr>
        <p:txBody>
          <a:bodyPr anchor="ctr"/>
          <a:lstStyle/>
          <a:p>
            <a:pPr algn="ctr"/>
            <a:endParaRPr lang="en-US"/>
          </a:p>
        </p:txBody>
      </p:sp>
      <p:sp>
        <p:nvSpPr>
          <p:cNvPr id="24" name="Text 11">
            <a:extLst>
              <a:ext uri="{FF2B5EF4-FFF2-40B4-BE49-F238E27FC236}">
                <a16:creationId xmlns:a16="http://schemas.microsoft.com/office/drawing/2014/main" id="{4861A10D-077E-90B7-EE3E-55EEAC76E085}"/>
              </a:ext>
            </a:extLst>
          </p:cNvPr>
          <p:cNvSpPr txBox="1"/>
          <p:nvPr/>
        </p:nvSpPr>
        <p:spPr>
          <a:xfrm>
            <a:off x="856298" y="3225749"/>
            <a:ext cx="2246020" cy="585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Division 3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25" name="Text 12">
            <a:extLst>
              <a:ext uri="{FF2B5EF4-FFF2-40B4-BE49-F238E27FC236}">
                <a16:creationId xmlns:a16="http://schemas.microsoft.com/office/drawing/2014/main" id="{7C346DA7-3E15-CBA2-FB93-29D051807664}"/>
              </a:ext>
            </a:extLst>
          </p:cNvPr>
          <p:cNvSpPr txBox="1"/>
          <p:nvPr/>
        </p:nvSpPr>
        <p:spPr>
          <a:xfrm>
            <a:off x="3227096" y="3225749"/>
            <a:ext cx="7736290" cy="585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Customer 14 / Project 47 ($33.8M, 21% of FY27). Confirm scope and timing.</a:t>
            </a:r>
            <a:endParaRPr lang="en-US" sz="1100" dirty="0"/>
          </a:p>
        </p:txBody>
      </p:sp>
      <p:sp>
        <p:nvSpPr>
          <p:cNvPr id="26" name="Shape 13">
            <a:extLst>
              <a:ext uri="{FF2B5EF4-FFF2-40B4-BE49-F238E27FC236}">
                <a16:creationId xmlns:a16="http://schemas.microsoft.com/office/drawing/2014/main" id="{4AA44EE2-7B7B-AAE1-751A-F53049BDE262}"/>
              </a:ext>
            </a:extLst>
          </p:cNvPr>
          <p:cNvSpPr/>
          <p:nvPr/>
        </p:nvSpPr>
        <p:spPr>
          <a:xfrm>
            <a:off x="731519" y="3915497"/>
            <a:ext cx="10481425" cy="71577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/>
        </p:spPr>
        <p:txBody>
          <a:bodyPr anchor="ctr"/>
          <a:lstStyle/>
          <a:p>
            <a:pPr algn="ctr"/>
            <a:endParaRPr lang="en-US"/>
          </a:p>
        </p:txBody>
      </p:sp>
      <p:sp>
        <p:nvSpPr>
          <p:cNvPr id="27" name="Text 14">
            <a:extLst>
              <a:ext uri="{FF2B5EF4-FFF2-40B4-BE49-F238E27FC236}">
                <a16:creationId xmlns:a16="http://schemas.microsoft.com/office/drawing/2014/main" id="{D85D583D-B5D0-4715-C17B-012EF630E337}"/>
              </a:ext>
            </a:extLst>
          </p:cNvPr>
          <p:cNvSpPr txBox="1"/>
          <p:nvPr/>
        </p:nvSpPr>
        <p:spPr>
          <a:xfrm>
            <a:off x="856298" y="3980567"/>
            <a:ext cx="2246020" cy="585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28" name="Text 15">
            <a:extLst>
              <a:ext uri="{FF2B5EF4-FFF2-40B4-BE49-F238E27FC236}">
                <a16:creationId xmlns:a16="http://schemas.microsoft.com/office/drawing/2014/main" id="{99335A16-CE77-8368-D16F-1972BB9B5CB7}"/>
              </a:ext>
            </a:extLst>
          </p:cNvPr>
          <p:cNvSpPr txBox="1"/>
          <p:nvPr/>
        </p:nvSpPr>
        <p:spPr>
          <a:xfrm>
            <a:off x="3227096" y="3980567"/>
            <a:ext cx="7736290" cy="585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whether this pipeline is the complete FY27 revenue expectation.</a:t>
            </a:r>
            <a:endParaRPr lang="en-US" sz="1100" dirty="0"/>
          </a:p>
        </p:txBody>
      </p:sp>
      <p:sp>
        <p:nvSpPr>
          <p:cNvPr id="29" name="Shape 16">
            <a:extLst>
              <a:ext uri="{FF2B5EF4-FFF2-40B4-BE49-F238E27FC236}">
                <a16:creationId xmlns:a16="http://schemas.microsoft.com/office/drawing/2014/main" id="{4DE6AA6E-2D98-239E-5DEF-6AD39D545BC6}"/>
              </a:ext>
            </a:extLst>
          </p:cNvPr>
          <p:cNvSpPr/>
          <p:nvPr/>
        </p:nvSpPr>
        <p:spPr>
          <a:xfrm>
            <a:off x="731519" y="4670315"/>
            <a:ext cx="10481425" cy="71577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/>
        </p:spPr>
        <p:txBody>
          <a:bodyPr anchor="ctr"/>
          <a:lstStyle/>
          <a:p>
            <a:pPr algn="ctr"/>
            <a:endParaRPr lang="en-US"/>
          </a:p>
        </p:txBody>
      </p:sp>
      <p:sp>
        <p:nvSpPr>
          <p:cNvPr id="30" name="Text 17">
            <a:extLst>
              <a:ext uri="{FF2B5EF4-FFF2-40B4-BE49-F238E27FC236}">
                <a16:creationId xmlns:a16="http://schemas.microsoft.com/office/drawing/2014/main" id="{B4FE0035-E392-AD9F-F688-2AA8564D765C}"/>
              </a:ext>
            </a:extLst>
          </p:cNvPr>
          <p:cNvSpPr txBox="1"/>
          <p:nvPr/>
        </p:nvSpPr>
        <p:spPr>
          <a:xfrm>
            <a:off x="856298" y="4735385"/>
            <a:ext cx="2246020" cy="585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31" name="Text 18">
            <a:extLst>
              <a:ext uri="{FF2B5EF4-FFF2-40B4-BE49-F238E27FC236}">
                <a16:creationId xmlns:a16="http://schemas.microsoft.com/office/drawing/2014/main" id="{3A2EAD50-1601-0EBE-1E3B-BD8EFD0A2BFC}"/>
              </a:ext>
            </a:extLst>
          </p:cNvPr>
          <p:cNvSpPr txBox="1"/>
          <p:nvPr/>
        </p:nvSpPr>
        <p:spPr>
          <a:xfrm>
            <a:off x="3227096" y="4735385"/>
            <a:ext cx="7736290" cy="585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Clarify Customer 2 decline (47% to 14% share). Incomplete submission or real trend?</a:t>
            </a:r>
            <a:endParaRPr lang="en-US" sz="1100" dirty="0"/>
          </a:p>
        </p:txBody>
      </p:sp>
      <p:sp>
        <p:nvSpPr>
          <p:cNvPr id="32" name="Shape 19">
            <a:extLst>
              <a:ext uri="{FF2B5EF4-FFF2-40B4-BE49-F238E27FC236}">
                <a16:creationId xmlns:a16="http://schemas.microsoft.com/office/drawing/2014/main" id="{F9B1255B-34C1-FF26-BEB5-017C1BCD2C7C}"/>
              </a:ext>
            </a:extLst>
          </p:cNvPr>
          <p:cNvSpPr/>
          <p:nvPr/>
        </p:nvSpPr>
        <p:spPr>
          <a:xfrm>
            <a:off x="731519" y="5425132"/>
            <a:ext cx="10481425" cy="71577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/>
        </p:spPr>
        <p:txBody>
          <a:bodyPr anchor="ctr"/>
          <a:lstStyle/>
          <a:p>
            <a:pPr algn="ctr"/>
            <a:endParaRPr lang="en-US"/>
          </a:p>
        </p:txBody>
      </p:sp>
      <p:sp>
        <p:nvSpPr>
          <p:cNvPr id="33" name="Text 20">
            <a:extLst>
              <a:ext uri="{FF2B5EF4-FFF2-40B4-BE49-F238E27FC236}">
                <a16:creationId xmlns:a16="http://schemas.microsoft.com/office/drawing/2014/main" id="{86B9BEF7-9820-1AFE-3BE5-6CE4F3DFABD9}"/>
              </a:ext>
            </a:extLst>
          </p:cNvPr>
          <p:cNvSpPr txBox="1"/>
          <p:nvPr/>
        </p:nvSpPr>
        <p:spPr>
          <a:xfrm>
            <a:off x="856298" y="5490203"/>
            <a:ext cx="2246020" cy="585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34" name="Text 21">
            <a:extLst>
              <a:ext uri="{FF2B5EF4-FFF2-40B4-BE49-F238E27FC236}">
                <a16:creationId xmlns:a16="http://schemas.microsoft.com/office/drawing/2014/main" id="{88EF6912-20BD-52BE-DD27-765D13663665}"/>
              </a:ext>
            </a:extLst>
          </p:cNvPr>
          <p:cNvSpPr txBox="1"/>
          <p:nvPr/>
        </p:nvSpPr>
        <p:spPr>
          <a:xfrm>
            <a:off x="3227096" y="5490203"/>
            <a:ext cx="7736290" cy="585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the proposed data model and begin quarterly snapshots for FY28 planning.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7730963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3515</TotalTime>
  <Words>849</Words>
  <Application>Microsoft Macintosh PowerPoint</Application>
  <PresentationFormat>Widescreen</PresentationFormat>
  <Paragraphs>238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Office Theme</vt:lpstr>
      <vt:lpstr>FY 27 Pipeline Review Provisional Operating Plan Recommendation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Jishnu Ramakrishnan</dc:creator>
  <cp:lastModifiedBy>Jishnu Ramakrishnan</cp:lastModifiedBy>
  <cp:revision>24</cp:revision>
  <dcterms:created xsi:type="dcterms:W3CDTF">2026-09-12T17:28:31Z</dcterms:created>
  <dcterms:modified xsi:type="dcterms:W3CDTF">2026-09-15T16:28:44Z</dcterms:modified>
</cp:coreProperties>
</file>